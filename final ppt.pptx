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5" r:id="rId4"/>
    <p:sldId id="276" r:id="rId5"/>
    <p:sldId id="258" r:id="rId6"/>
    <p:sldId id="269" r:id="rId7"/>
    <p:sldId id="271" r:id="rId8"/>
    <p:sldId id="274" r:id="rId9"/>
    <p:sldId id="261" r:id="rId10"/>
    <p:sldId id="273" r:id="rId11"/>
    <p:sldId id="277" r:id="rId12"/>
    <p:sldId id="278" r:id="rId13"/>
    <p:sldId id="279" r:id="rId14"/>
    <p:sldId id="265"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showGuides="1">
      <p:cViewPr>
        <p:scale>
          <a:sx n="75" d="100"/>
          <a:sy n="75" d="100"/>
        </p:scale>
        <p:origin x="-296" y="172"/>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1/30/2026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4910" y="1560365"/>
            <a:ext cx="10363200" cy="1470025"/>
          </a:xfrm>
        </p:spPr>
        <p:txBody>
          <a:bodyPr>
            <a:normAutofit/>
          </a:bodyPr>
          <a:lstStyle/>
          <a:p>
            <a:r>
              <a:rPr lang="en-US" altLang="en-US" b="1" dirty="0"/>
              <a:t>Student Learning Progress Classification Using Academic Records</a:t>
            </a:r>
          </a:p>
        </p:txBody>
      </p:sp>
      <p:sp>
        <p:nvSpPr>
          <p:cNvPr id="3" name="Subtitle 2"/>
          <p:cNvSpPr>
            <a:spLocks noGrp="1"/>
          </p:cNvSpPr>
          <p:nvPr>
            <p:ph type="subTitle" idx="1"/>
          </p:nvPr>
        </p:nvSpPr>
        <p:spPr>
          <a:xfrm>
            <a:off x="1828800" y="4382210"/>
            <a:ext cx="8534400" cy="2233448"/>
          </a:xfrm>
        </p:spPr>
        <p:txBody>
          <a:bodyPr>
            <a:normAutofit lnSpcReduction="10000"/>
          </a:bodyPr>
          <a:lstStyle/>
          <a:p>
            <a:r>
              <a:rPr b="1" dirty="0">
                <a:solidFill>
                  <a:schemeClr val="accent2"/>
                </a:solidFill>
              </a:rPr>
              <a:t>Presented by: </a:t>
            </a:r>
            <a:endParaRPr lang="en-US" b="1" dirty="0">
              <a:solidFill>
                <a:schemeClr val="accent2"/>
              </a:solidFill>
            </a:endParaRPr>
          </a:p>
          <a:p>
            <a:r>
              <a:rPr lang="en-US" altLang="en-IN" b="1" dirty="0">
                <a:solidFill>
                  <a:srgbClr val="0070C0"/>
                </a:solidFill>
              </a:rPr>
              <a:t>ARCHANA.J</a:t>
            </a:r>
            <a:r>
              <a:rPr lang="en-IN" b="1" dirty="0">
                <a:solidFill>
                  <a:schemeClr val="accent2"/>
                </a:solidFill>
              </a:rPr>
              <a:t> - </a:t>
            </a:r>
            <a:r>
              <a:rPr lang="en-US" altLang="en-IN" b="1" dirty="0">
                <a:solidFill>
                  <a:srgbClr val="FF0000"/>
                </a:solidFill>
              </a:rPr>
              <a:t>192324294</a:t>
            </a:r>
            <a:endParaRPr lang="en-IN" b="1" dirty="0">
              <a:solidFill>
                <a:srgbClr val="FF0000"/>
              </a:solidFill>
            </a:endParaRPr>
          </a:p>
          <a:p>
            <a:r>
              <a:rPr lang="en-IN" b="1" dirty="0">
                <a:solidFill>
                  <a:srgbClr val="0070C0"/>
                </a:solidFill>
              </a:rPr>
              <a:t>AYESHA.S</a:t>
            </a:r>
            <a:r>
              <a:rPr lang="en-IN" b="1" dirty="0">
                <a:solidFill>
                  <a:schemeClr val="accent2"/>
                </a:solidFill>
              </a:rPr>
              <a:t> – </a:t>
            </a:r>
            <a:r>
              <a:rPr lang="en-IN" b="1" dirty="0">
                <a:solidFill>
                  <a:srgbClr val="FF0000"/>
                </a:solidFill>
              </a:rPr>
              <a:t>192321039</a:t>
            </a:r>
          </a:p>
          <a:p>
            <a:r>
              <a:rPr lang="en-IN" b="1" dirty="0" smtClean="0">
                <a:solidFill>
                  <a:srgbClr val="0070C0"/>
                </a:solidFill>
              </a:rPr>
              <a:t>MADHUMITHA KT</a:t>
            </a:r>
            <a:r>
              <a:rPr lang="en-IN" b="1" dirty="0" smtClean="0">
                <a:solidFill>
                  <a:schemeClr val="accent2"/>
                </a:solidFill>
              </a:rPr>
              <a:t> </a:t>
            </a:r>
            <a:r>
              <a:rPr lang="en-IN" b="1" dirty="0">
                <a:solidFill>
                  <a:schemeClr val="accent2"/>
                </a:solidFill>
              </a:rPr>
              <a:t>– </a:t>
            </a:r>
            <a:r>
              <a:rPr lang="en-IN" b="1" dirty="0">
                <a:solidFill>
                  <a:srgbClr val="FF0000"/>
                </a:solidFill>
              </a:rPr>
              <a:t>192473009</a:t>
            </a:r>
          </a:p>
          <a:p>
            <a:endParaRPr lang="en-IN" b="1" dirty="0">
              <a:solidFill>
                <a:srgbClr val="FF0000"/>
              </a:solidFill>
            </a:endParaRPr>
          </a:p>
          <a:p>
            <a:endParaRPr lang="en-IN" b="1" dirty="0">
              <a:solidFill>
                <a:srgbClr val="FF0000"/>
              </a:solidFill>
            </a:endParaRPr>
          </a:p>
        </p:txBody>
      </p:sp>
      <p:pic>
        <p:nvPicPr>
          <p:cNvPr id="5" name="Picture 4"/>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6" name="Picture 5"/>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4" name="TextBox 3"/>
          <p:cNvSpPr txBox="1"/>
          <p:nvPr/>
        </p:nvSpPr>
        <p:spPr>
          <a:xfrm>
            <a:off x="10510" y="3424201"/>
            <a:ext cx="12192000" cy="523220"/>
          </a:xfrm>
          <a:prstGeom prst="rect">
            <a:avLst/>
          </a:prstGeom>
          <a:noFill/>
        </p:spPr>
        <p:txBody>
          <a:bodyPr wrap="square" rtlCol="0">
            <a:spAutoFit/>
          </a:bodyPr>
          <a:lstStyle/>
          <a:p>
            <a:pPr algn="ctr"/>
            <a:r>
              <a:rPr lang="en-US" sz="2800" b="1" dirty="0">
                <a:solidFill>
                  <a:schemeClr val="accent2">
                    <a:lumMod val="75000"/>
                  </a:schemeClr>
                </a:solidFill>
              </a:rPr>
              <a:t>ITA0627</a:t>
            </a:r>
            <a:r>
              <a:rPr lang="en-US" sz="2800" b="1" dirty="0">
                <a:solidFill>
                  <a:srgbClr val="00B050"/>
                </a:solidFill>
              </a:rPr>
              <a:t> </a:t>
            </a:r>
            <a:r>
              <a:rPr lang="en-US" sz="2800" b="1" dirty="0">
                <a:solidFill>
                  <a:srgbClr val="FF0000"/>
                </a:solidFill>
              </a:rPr>
              <a:t>–</a:t>
            </a:r>
            <a:r>
              <a:rPr lang="en-US" sz="2800" b="1" dirty="0">
                <a:solidFill>
                  <a:srgbClr val="00B050"/>
                </a:solidFill>
              </a:rPr>
              <a:t>Machine Learning for Data Manipulation</a:t>
            </a:r>
            <a:endParaRPr lang="en-IN" sz="2800" b="1" dirty="0">
              <a:solidFill>
                <a:srgbClr val="00B0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Introduction</a:t>
            </a: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7" name="Rectangle 2"/>
          <p:cNvSpPr>
            <a:spLocks noGrp="1" noChangeArrowheads="1"/>
          </p:cNvSpPr>
          <p:nvPr>
            <p:ph idx="1"/>
          </p:nvPr>
        </p:nvSpPr>
        <p:spPr bwMode="auto">
          <a:xfrm>
            <a:off x="266700" y="4824730"/>
            <a:ext cx="11076305" cy="19996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defTabSz="914400" eaLnBrk="0" fontAlgn="base" hangingPunct="0">
              <a:spcBef>
                <a:spcPct val="0"/>
              </a:spcBef>
              <a:spcAft>
                <a:spcPct val="0"/>
              </a:spcAft>
              <a:buFont typeface="Wingdings" panose="05000000000000000000" pitchFamily="2" charset="2"/>
              <a:buNone/>
            </a:pPr>
            <a:r>
              <a:rPr lang="en-US" altLang="en-US" sz="2400" dirty="0">
                <a:solidFill>
                  <a:srgbClr val="0070C0"/>
                </a:solidFill>
                <a:latin typeface="Times New Roman" panose="02020603050405020304" pitchFamily="18" charset="0"/>
                <a:cs typeface="Times New Roman" panose="02020603050405020304" pitchFamily="18" charset="0"/>
              </a:rPr>
              <a:t>Purpose of the Project</a:t>
            </a:r>
          </a:p>
          <a:p>
            <a:pPr lvl="0" algn="just"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Develop an intelligent system to classify students based on learning progress using academic records.</a:t>
            </a:r>
          </a:p>
          <a:p>
            <a:pPr lvl="0" algn="just"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Identify slow learners early through machine learning–based classification techniques.</a:t>
            </a:r>
          </a:p>
          <a:p>
            <a:pPr lvl="0" algn="just"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Support teachers and institutions with data-driven insights to improve academic outcomes.</a:t>
            </a:r>
          </a:p>
          <a:p>
            <a:pPr lvl="0" algn="l"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Enable timely academic interventions and personalized support strategies by predicting student performance trends in advance.</a:t>
            </a:r>
          </a:p>
        </p:txBody>
      </p:sp>
      <p:sp>
        <p:nvSpPr>
          <p:cNvPr id="3" name="Text Box 2"/>
          <p:cNvSpPr txBox="1"/>
          <p:nvPr/>
        </p:nvSpPr>
        <p:spPr>
          <a:xfrm>
            <a:off x="346075" y="1645708"/>
            <a:ext cx="8317230" cy="3476625"/>
          </a:xfrm>
          <a:prstGeom prst="rect">
            <a:avLst/>
          </a:prstGeom>
          <a:noFill/>
        </p:spPr>
        <p:txBody>
          <a:bodyPr wrap="square" rtlCol="0">
            <a:spAutoFit/>
          </a:bodyPr>
          <a:lstStyle/>
          <a:p>
            <a:pPr marL="0" lvl="0" indent="0" defTabSz="914400" eaLnBrk="0" fontAlgn="base" hangingPunct="0">
              <a:spcBef>
                <a:spcPct val="0"/>
              </a:spcBef>
              <a:spcAft>
                <a:spcPct val="0"/>
              </a:spcAft>
              <a:buNone/>
            </a:pPr>
            <a:r>
              <a:rPr lang="en-US" altLang="en-US" sz="2400" dirty="0">
                <a:solidFill>
                  <a:srgbClr val="FF0000"/>
                </a:solidFill>
                <a:latin typeface="Times New Roman" panose="02020603050405020304" pitchFamily="18" charset="0"/>
                <a:cs typeface="Times New Roman" panose="02020603050405020304" pitchFamily="18" charset="0"/>
                <a:sym typeface="+mn-ea"/>
              </a:rPr>
              <a:t>Overview of the Project:</a:t>
            </a:r>
            <a:endParaRPr lang="en-US" altLang="en-US" sz="2400" dirty="0">
              <a:solidFill>
                <a:srgbClr val="FF0000"/>
              </a:solidFill>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sym typeface="+mn-ea"/>
              </a:rPr>
              <a:t> </a:t>
            </a:r>
            <a:r>
              <a:rPr lang="en-US" altLang="en-US" sz="2000" dirty="0">
                <a:latin typeface="Times New Roman" panose="02020603050405020304" pitchFamily="18" charset="0"/>
                <a:cs typeface="Times New Roman" panose="02020603050405020304" pitchFamily="18" charset="0"/>
                <a:sym typeface="+mn-ea"/>
              </a:rPr>
              <a:t> Student Learning Progress Classification is a machine learning–based system that analyzes academic records to classify students based on learning progress trends.</a:t>
            </a:r>
            <a:endParaRPr lang="en-US" altLang="en-US" sz="2000"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sym typeface="+mn-ea"/>
              </a:rPr>
              <a:t>  It uses attendance, internal marks, and assignment scores to evaluate student performance.</a:t>
            </a:r>
          </a:p>
          <a:p>
            <a:pPr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sym typeface="+mn-ea"/>
              </a:rPr>
              <a:t>The system applies supervised machine learning algorithms to automatically categorize students into performance levels such as slow, average, and good learners.</a:t>
            </a:r>
          </a:p>
          <a:p>
            <a:pPr defTabSz="914400" eaLnBrk="0" fontAlgn="base" hangingPunct="0">
              <a:spcBef>
                <a:spcPct val="0"/>
              </a:spcBef>
              <a:spcAft>
                <a:spcPct val="0"/>
              </a:spcAft>
              <a:buFont typeface="Wingdings" panose="05000000000000000000" pitchFamily="2" charset="2"/>
              <a:buChar char="§"/>
            </a:pPr>
            <a:endParaRPr lang="en-US" altLang="en-US" dirty="0">
              <a:latin typeface="Times New Roman" panose="02020603050405020304" pitchFamily="18" charset="0"/>
              <a:cs typeface="Times New Roman" panose="02020603050405020304" pitchFamily="18" charset="0"/>
            </a:endParaRPr>
          </a:p>
          <a:p>
            <a:endParaRPr lang="en-US" dirty="0"/>
          </a:p>
        </p:txBody>
      </p:sp>
      <p:pic>
        <p:nvPicPr>
          <p:cNvPr id="6" name="Picture 5" descr="big-data-application-in-education"/>
          <p:cNvPicPr>
            <a:picLocks noChangeAspect="1"/>
          </p:cNvPicPr>
          <p:nvPr/>
        </p:nvPicPr>
        <p:blipFill>
          <a:blip r:embed="rId4"/>
          <a:stretch>
            <a:fillRect/>
          </a:stretch>
        </p:blipFill>
        <p:spPr>
          <a:xfrm>
            <a:off x="8663305" y="2262505"/>
            <a:ext cx="3529330" cy="26739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352" y="1876926"/>
            <a:ext cx="12059236" cy="4635633"/>
          </a:xfrm>
        </p:spPr>
        <p:txBody>
          <a:bodyPr>
            <a:normAutofit fontScale="70000" lnSpcReduction="20000"/>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Goals</a:t>
            </a:r>
          </a:p>
          <a:p>
            <a:r>
              <a:rPr lang="en-US" dirty="0">
                <a:latin typeface="Times New Roman" panose="02020603050405020304" pitchFamily="18" charset="0"/>
                <a:cs typeface="Times New Roman" panose="02020603050405020304" pitchFamily="18" charset="0"/>
              </a:rPr>
              <a:t>Develop a user-friendly mobile application for organizing and sharing classroom notes.</a:t>
            </a:r>
          </a:p>
          <a:p>
            <a:r>
              <a:rPr lang="en-US" dirty="0">
                <a:latin typeface="Times New Roman" panose="02020603050405020304" pitchFamily="18" charset="0"/>
                <a:cs typeface="Times New Roman" panose="02020603050405020304" pitchFamily="18" charset="0"/>
              </a:rPr>
              <a:t>Facilitate seamless collaboration among students to promote peer-to-peer learning.</a:t>
            </a:r>
          </a:p>
          <a:p>
            <a:r>
              <a:rPr lang="en-US" dirty="0">
                <a:latin typeface="Times New Roman" panose="02020603050405020304" pitchFamily="18" charset="0"/>
                <a:cs typeface="Times New Roman" panose="02020603050405020304" pitchFamily="18" charset="0"/>
              </a:rPr>
              <a:t>Assist educators in distributing study materials and monitoring student engagement effectively.</a:t>
            </a:r>
          </a:p>
          <a:p>
            <a:pPr marL="0" indent="0">
              <a:buNone/>
            </a:pPr>
            <a:r>
              <a:rPr lang="en-US" b="1" dirty="0">
                <a:solidFill>
                  <a:schemeClr val="accent3">
                    <a:lumMod val="75000"/>
                  </a:schemeClr>
                </a:solidFill>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Lack of a centralized platform for storing and accessing classroom notes.</a:t>
            </a:r>
          </a:p>
          <a:p>
            <a:r>
              <a:rPr lang="en-US" dirty="0">
                <a:latin typeface="Times New Roman" panose="02020603050405020304" pitchFamily="18" charset="0"/>
                <a:cs typeface="Times New Roman" panose="02020603050405020304" pitchFamily="18" charset="0"/>
              </a:rPr>
              <a:t>Students who miss classes face difficulty in catching up with lectures and materials.</a:t>
            </a:r>
          </a:p>
          <a:p>
            <a:r>
              <a:rPr lang="en-US" dirty="0">
                <a:latin typeface="Times New Roman" panose="02020603050405020304" pitchFamily="18" charset="0"/>
                <a:cs typeface="Times New Roman" panose="02020603050405020304" pitchFamily="18" charset="0"/>
              </a:rPr>
              <a:t>Limited real-time interaction and communication between students and educators.</a:t>
            </a:r>
          </a:p>
          <a:p>
            <a:pPr marL="0" indent="0">
              <a:buNone/>
            </a:pPr>
            <a:r>
              <a:rPr lang="en-US" b="1" dirty="0">
                <a:solidFill>
                  <a:srgbClr val="0070C0"/>
                </a:solidFill>
                <a:latin typeface="Times New Roman" panose="02020603050405020304" pitchFamily="18" charset="0"/>
                <a:cs typeface="Times New Roman" panose="02020603050405020304" pitchFamily="18" charset="0"/>
              </a:rPr>
              <a:t>Expected Outcomes</a:t>
            </a:r>
          </a:p>
          <a:p>
            <a:r>
              <a:rPr lang="en-US" dirty="0">
                <a:latin typeface="Times New Roman" panose="02020603050405020304" pitchFamily="18" charset="0"/>
                <a:cs typeface="Times New Roman" panose="02020603050405020304" pitchFamily="18" charset="0"/>
              </a:rPr>
              <a:t>Improved academic performance through easy and timely access to shared notes.</a:t>
            </a:r>
          </a:p>
          <a:p>
            <a:r>
              <a:rPr lang="en-US" dirty="0">
                <a:latin typeface="Times New Roman" panose="02020603050405020304" pitchFamily="18" charset="0"/>
                <a:cs typeface="Times New Roman" panose="02020603050405020304" pitchFamily="18" charset="0"/>
              </a:rPr>
              <a:t>Enhanced collaboration and teamwork among students.</a:t>
            </a:r>
          </a:p>
          <a:p>
            <a:r>
              <a:rPr lang="en-US" dirty="0">
                <a:latin typeface="Times New Roman" panose="02020603050405020304" pitchFamily="18" charset="0"/>
                <a:cs typeface="Times New Roman" panose="02020603050405020304" pitchFamily="18" charset="0"/>
              </a:rPr>
              <a:t>Increased student engagement and reduced learning gaps in classrooms.</a:t>
            </a:r>
          </a:p>
          <a:p>
            <a:pPr algn="just">
              <a:lnSpc>
                <a:spcPct val="170000"/>
              </a:lnSpc>
            </a:pPr>
            <a:endParaRPr lang="en-IN"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6" name="TextBox 5"/>
          <p:cNvSpPr txBox="1"/>
          <p:nvPr/>
        </p:nvSpPr>
        <p:spPr>
          <a:xfrm>
            <a:off x="2606842" y="673768"/>
            <a:ext cx="6978316" cy="769441"/>
          </a:xfrm>
          <a:prstGeom prst="rect">
            <a:avLst/>
          </a:prstGeom>
          <a:noFill/>
        </p:spPr>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Objectives</a:t>
            </a:r>
            <a:endParaRPr lang="en-IN" sz="4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Review</a:t>
            </a:r>
          </a:p>
        </p:txBody>
      </p:sp>
      <p:graphicFrame>
        <p:nvGraphicFramePr>
          <p:cNvPr id="6" name="Content Placeholder 5"/>
          <p:cNvGraphicFramePr>
            <a:graphicFrameLocks noGrp="1"/>
          </p:cNvGraphicFramePr>
          <p:nvPr>
            <p:ph idx="1"/>
          </p:nvPr>
        </p:nvGraphicFramePr>
        <p:xfrm>
          <a:off x="433136" y="1617522"/>
          <a:ext cx="11401512" cy="5039994"/>
        </p:xfrm>
        <a:graphic>
          <a:graphicData uri="http://schemas.openxmlformats.org/drawingml/2006/table">
            <a:tbl>
              <a:tblPr firstRow="1" bandRow="1">
                <a:tableStyleId>{ED083AE6-46FA-4A59-8FB0-9F97EB10719F}</a:tableStyleId>
              </a:tblPr>
              <a:tblGrid>
                <a:gridCol w="2850378"/>
                <a:gridCol w="2850378"/>
                <a:gridCol w="2850378"/>
                <a:gridCol w="2850378"/>
              </a:tblGrid>
              <a:tr h="528954">
                <a:tc>
                  <a:txBody>
                    <a:bodyPr/>
                    <a:lstStyle/>
                    <a:p>
                      <a:r>
                        <a:rPr lang="en-IN" sz="1700" dirty="0">
                          <a:latin typeface="Times New Roman" panose="02020603050405020304" pitchFamily="18" charset="0"/>
                          <a:cs typeface="Times New Roman" panose="02020603050405020304" pitchFamily="18" charset="0"/>
                        </a:rPr>
                        <a:t>Title </a:t>
                      </a:r>
                    </a:p>
                  </a:txBody>
                  <a:tcPr/>
                </a:tc>
                <a:tc>
                  <a:txBody>
                    <a:bodyPr/>
                    <a:lstStyle/>
                    <a:p>
                      <a:r>
                        <a:rPr lang="en-IN" sz="1700" dirty="0">
                          <a:latin typeface="Times New Roman" panose="02020603050405020304" pitchFamily="18" charset="0"/>
                          <a:cs typeface="Times New Roman" panose="02020603050405020304" pitchFamily="18" charset="0"/>
                        </a:rPr>
                        <a:t>Authors &amp; Year</a:t>
                      </a:r>
                    </a:p>
                  </a:txBody>
                  <a:tcPr/>
                </a:tc>
                <a:tc>
                  <a:txBody>
                    <a:bodyPr/>
                    <a:lstStyle/>
                    <a:p>
                      <a:r>
                        <a:rPr lang="en-IN" sz="1700" dirty="0">
                          <a:latin typeface="Times New Roman" panose="02020603050405020304" pitchFamily="18" charset="0"/>
                          <a:cs typeface="Times New Roman" panose="02020603050405020304" pitchFamily="18" charset="0"/>
                        </a:rPr>
                        <a:t>Technologies Used</a:t>
                      </a:r>
                    </a:p>
                  </a:txBody>
                  <a:tcPr/>
                </a:tc>
                <a:tc>
                  <a:txBody>
                    <a:bodyPr/>
                    <a:lstStyle/>
                    <a:p>
                      <a:r>
                        <a:rPr lang="en-IN" sz="1700" dirty="0">
                          <a:latin typeface="Times New Roman" panose="02020603050405020304" pitchFamily="18" charset="0"/>
                          <a:cs typeface="Times New Roman" panose="02020603050405020304" pitchFamily="18" charset="0"/>
                        </a:rPr>
                        <a:t>Research Gaps Identified </a:t>
                      </a:r>
                    </a:p>
                  </a:txBody>
                  <a:tcPr/>
                </a:tc>
              </a:tr>
              <a:tr h="1083278">
                <a:tc>
                  <a:txBody>
                    <a:bodyPr/>
                    <a:lstStyle/>
                    <a:p>
                      <a:r>
                        <a:rPr lang="en-US" sz="1700" dirty="0">
                          <a:latin typeface="Times New Roman" panose="02020603050405020304" pitchFamily="18" charset="0"/>
                          <a:cs typeface="Times New Roman" panose="02020603050405020304" pitchFamily="18" charset="0"/>
                        </a:rPr>
                        <a:t>Mobile Learning Applications for Collaborative Education</a:t>
                      </a:r>
                      <a:endParaRPr lang="en-IN" sz="1700" dirty="0">
                        <a:latin typeface="Times New Roman" panose="02020603050405020304" pitchFamily="18" charset="0"/>
                        <a:cs typeface="Times New Roman" panose="02020603050405020304" pitchFamily="18" charset="0"/>
                      </a:endParaRPr>
                    </a:p>
                  </a:txBody>
                  <a:tcPr/>
                </a:tc>
                <a:tc>
                  <a:txBody>
                    <a:bodyPr/>
                    <a:lstStyle/>
                    <a:p>
                      <a:r>
                        <a:rPr lang="en-IN" sz="1700" dirty="0">
                          <a:latin typeface="Times New Roman" panose="02020603050405020304" pitchFamily="18" charset="0"/>
                          <a:cs typeface="Times New Roman" panose="02020603050405020304" pitchFamily="18" charset="0"/>
                        </a:rPr>
                        <a:t>Traxler, J. (2018)</a:t>
                      </a:r>
                    </a:p>
                  </a:txBody>
                  <a:tcPr/>
                </a:tc>
                <a:tc>
                  <a:txBody>
                    <a:bodyPr/>
                    <a:lstStyle/>
                    <a:p>
                      <a:r>
                        <a:rPr lang="en-US" sz="1700" dirty="0">
                          <a:latin typeface="Times New Roman" panose="02020603050405020304" pitchFamily="18" charset="0"/>
                          <a:cs typeface="Times New Roman" panose="02020603050405020304" pitchFamily="18" charset="0"/>
                        </a:rPr>
                        <a:t>Mobile Applications, Cloud Storage, Learning Management Systems (LMS)</a:t>
                      </a:r>
                      <a:endParaRPr lang="en-IN" sz="1700" dirty="0">
                        <a:latin typeface="Times New Roman" panose="02020603050405020304" pitchFamily="18" charset="0"/>
                        <a:cs typeface="Times New Roman" panose="02020603050405020304" pitchFamily="18" charset="0"/>
                      </a:endParaRPr>
                    </a:p>
                  </a:txBody>
                  <a:tcPr/>
                </a:tc>
                <a:tc>
                  <a:txBody>
                    <a:bodyPr/>
                    <a:lstStyle/>
                    <a:p>
                      <a:r>
                        <a:rPr lang="en-US" sz="1700" dirty="0">
                          <a:latin typeface="Times New Roman" panose="02020603050405020304" pitchFamily="18" charset="0"/>
                          <a:cs typeface="Times New Roman" panose="02020603050405020304" pitchFamily="18" charset="0"/>
                        </a:rPr>
                        <a:t>Limited focus on real-time peer collaboration &amp; lack of personalized note organization features for students.</a:t>
                      </a:r>
                      <a:endParaRPr lang="en-IN" sz="1700" dirty="0">
                        <a:latin typeface="Times New Roman" panose="02020603050405020304" pitchFamily="18" charset="0"/>
                        <a:cs typeface="Times New Roman" panose="02020603050405020304" pitchFamily="18" charset="0"/>
                      </a:endParaRPr>
                    </a:p>
                  </a:txBody>
                  <a:tcPr/>
                </a:tc>
              </a:tr>
              <a:tr h="1117021">
                <a:tc>
                  <a:txBody>
                    <a:bodyPr/>
                    <a:lstStyle/>
                    <a:p>
                      <a:r>
                        <a:rPr lang="en-US" sz="1700" dirty="0">
                          <a:latin typeface="Times New Roman" panose="02020603050405020304" pitchFamily="18" charset="0"/>
                          <a:cs typeface="Times New Roman" panose="02020603050405020304" pitchFamily="18" charset="0"/>
                        </a:rPr>
                        <a:t>Digital Note Sharing Systems in Higher Education</a:t>
                      </a:r>
                      <a:endParaRPr lang="en-IN" sz="1700" dirty="0">
                        <a:latin typeface="Times New Roman" panose="02020603050405020304" pitchFamily="18" charset="0"/>
                        <a:cs typeface="Times New Roman" panose="02020603050405020304" pitchFamily="18" charset="0"/>
                      </a:endParaRPr>
                    </a:p>
                  </a:txBody>
                  <a:tcPr/>
                </a:tc>
                <a:tc>
                  <a:txBody>
                    <a:bodyPr/>
                    <a:lstStyle/>
                    <a:p>
                      <a:r>
                        <a:rPr lang="en-IN" sz="1700" dirty="0">
                          <a:latin typeface="Times New Roman" panose="02020603050405020304" pitchFamily="18" charset="0"/>
                          <a:cs typeface="Times New Roman" panose="02020603050405020304" pitchFamily="18" charset="0"/>
                        </a:rPr>
                        <a:t>Al-</a:t>
                      </a:r>
                      <a:r>
                        <a:rPr lang="en-IN" sz="1700" dirty="0" err="1">
                          <a:latin typeface="Times New Roman" panose="02020603050405020304" pitchFamily="18" charset="0"/>
                          <a:cs typeface="Times New Roman" panose="02020603050405020304" pitchFamily="18" charset="0"/>
                        </a:rPr>
                        <a:t>Hunaiyyan</a:t>
                      </a:r>
                      <a:r>
                        <a:rPr lang="en-IN" sz="1700" dirty="0">
                          <a:latin typeface="Times New Roman" panose="02020603050405020304" pitchFamily="18" charset="0"/>
                          <a:cs typeface="Times New Roman" panose="02020603050405020304" pitchFamily="18" charset="0"/>
                        </a:rPr>
                        <a:t> et al. (2019)</a:t>
                      </a:r>
                    </a:p>
                  </a:txBody>
                  <a:tcPr/>
                </a:tc>
                <a:tc>
                  <a:txBody>
                    <a:bodyPr/>
                    <a:lstStyle/>
                    <a:p>
                      <a:r>
                        <a:rPr lang="en-US" sz="1700" dirty="0">
                          <a:latin typeface="Times New Roman" panose="02020603050405020304" pitchFamily="18" charset="0"/>
                          <a:cs typeface="Times New Roman" panose="02020603050405020304" pitchFamily="18" charset="0"/>
                        </a:rPr>
                        <a:t>Web-based Platforms, Databases, Content Management Systems</a:t>
                      </a:r>
                      <a:endParaRPr lang="en-IN" sz="1700" dirty="0">
                        <a:latin typeface="Times New Roman" panose="02020603050405020304" pitchFamily="18" charset="0"/>
                        <a:cs typeface="Times New Roman" panose="02020603050405020304" pitchFamily="18" charset="0"/>
                      </a:endParaRPr>
                    </a:p>
                  </a:txBody>
                  <a:tcPr/>
                </a:tc>
                <a:tc>
                  <a:txBody>
                    <a:bodyPr/>
                    <a:lstStyle/>
                    <a:p>
                      <a:r>
                        <a:rPr lang="en-US" sz="1700" dirty="0">
                          <a:latin typeface="Times New Roman" panose="02020603050405020304" pitchFamily="18" charset="0"/>
                          <a:cs typeface="Times New Roman" panose="02020603050405020304" pitchFamily="18" charset="0"/>
                        </a:rPr>
                        <a:t>Systems are mostly web-based and lack mobile optimization and interactive discussion features.</a:t>
                      </a:r>
                      <a:endParaRPr lang="en-IN" sz="1700" dirty="0">
                        <a:latin typeface="Times New Roman" panose="02020603050405020304" pitchFamily="18" charset="0"/>
                        <a:cs typeface="Times New Roman" panose="02020603050405020304" pitchFamily="18" charset="0"/>
                      </a:endParaRPr>
                    </a:p>
                  </a:txBody>
                  <a:tcPr/>
                </a:tc>
              </a:tr>
              <a:tr h="918044">
                <a:tc>
                  <a:txBody>
                    <a:bodyPr/>
                    <a:lstStyle/>
                    <a:p>
                      <a:r>
                        <a:rPr lang="en-US" sz="1700" dirty="0">
                          <a:latin typeface="Times New Roman" panose="02020603050405020304" pitchFamily="18" charset="0"/>
                          <a:cs typeface="Times New Roman" panose="02020603050405020304" pitchFamily="18" charset="0"/>
                        </a:rPr>
                        <a:t>Smart Education Systems Using Mobile Technology</a:t>
                      </a:r>
                      <a:endParaRPr lang="en-IN" sz="1700" dirty="0">
                        <a:latin typeface="Times New Roman" panose="02020603050405020304" pitchFamily="18" charset="0"/>
                        <a:cs typeface="Times New Roman" panose="02020603050405020304" pitchFamily="18" charset="0"/>
                      </a:endParaRPr>
                    </a:p>
                  </a:txBody>
                  <a:tcPr/>
                </a:tc>
                <a:tc>
                  <a:txBody>
                    <a:bodyPr/>
                    <a:lstStyle/>
                    <a:p>
                      <a:r>
                        <a:rPr lang="en-IN" sz="1700" dirty="0">
                          <a:latin typeface="Times New Roman" panose="02020603050405020304" pitchFamily="18" charset="0"/>
                          <a:cs typeface="Times New Roman" panose="02020603050405020304" pitchFamily="18" charset="0"/>
                        </a:rPr>
                        <a:t>Kumar &amp; Sharma (2021)</a:t>
                      </a:r>
                    </a:p>
                  </a:txBody>
                  <a:tcPr/>
                </a:tc>
                <a:tc>
                  <a:txBody>
                    <a:bodyPr/>
                    <a:lstStyle/>
                    <a:p>
                      <a:r>
                        <a:rPr lang="en-IN" sz="1700" dirty="0">
                          <a:latin typeface="Times New Roman" panose="02020603050405020304" pitchFamily="18" charset="0"/>
                          <a:cs typeface="Times New Roman" panose="02020603050405020304" pitchFamily="18" charset="0"/>
                        </a:rPr>
                        <a:t>Android Applications, Cloud Computing, REST APIs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700" dirty="0">
                          <a:latin typeface="Times New Roman" panose="02020603050405020304" pitchFamily="18" charset="0"/>
                          <a:cs typeface="Times New Roman" panose="02020603050405020304" pitchFamily="18" charset="0"/>
                        </a:rPr>
                        <a:t>Lack of centralized platforms combining note sharing, educator monitoring tools.</a:t>
                      </a:r>
                    </a:p>
                    <a:p>
                      <a:endParaRPr lang="en-IN" sz="1700" dirty="0">
                        <a:latin typeface="Times New Roman" panose="02020603050405020304" pitchFamily="18" charset="0"/>
                        <a:cs typeface="Times New Roman" panose="02020603050405020304" pitchFamily="18" charset="0"/>
                      </a:endParaRPr>
                    </a:p>
                  </a:txBody>
                  <a:tcPr/>
                </a:tc>
              </a:tr>
              <a:tr h="554253">
                <a:tc>
                  <a:txBody>
                    <a:bodyPr/>
                    <a:lstStyle/>
                    <a:p>
                      <a:r>
                        <a:rPr lang="en-US" sz="1700" dirty="0">
                          <a:latin typeface="Times New Roman" panose="02020603050405020304" pitchFamily="18" charset="0"/>
                          <a:cs typeface="Times New Roman" panose="02020603050405020304" pitchFamily="18" charset="0"/>
                        </a:rPr>
                        <a:t>. E-Learning Platforms for Student Engagement</a:t>
                      </a:r>
                      <a:endParaRPr lang="en-IN" sz="1700" dirty="0">
                        <a:latin typeface="Times New Roman" panose="02020603050405020304" pitchFamily="18" charset="0"/>
                        <a:cs typeface="Times New Roman" panose="02020603050405020304" pitchFamily="18" charset="0"/>
                      </a:endParaRPr>
                    </a:p>
                  </a:txBody>
                  <a:tcPr/>
                </a:tc>
                <a:tc>
                  <a:txBody>
                    <a:bodyPr/>
                    <a:lstStyle/>
                    <a:p>
                      <a:r>
                        <a:rPr lang="en-IN" sz="1700" dirty="0">
                          <a:latin typeface="Times New Roman" panose="02020603050405020304" pitchFamily="18" charset="0"/>
                          <a:cs typeface="Times New Roman" panose="02020603050405020304" pitchFamily="18" charset="0"/>
                        </a:rPr>
                        <a:t>Singh et al. (2022)</a:t>
                      </a:r>
                    </a:p>
                  </a:txBody>
                  <a:tcPr/>
                </a:tc>
                <a:tc>
                  <a:txBody>
                    <a:bodyPr/>
                    <a:lstStyle/>
                    <a:p>
                      <a:r>
                        <a:rPr lang="en-US" sz="1700" dirty="0">
                          <a:latin typeface="Times New Roman" panose="02020603050405020304" pitchFamily="18" charset="0"/>
                          <a:cs typeface="Times New Roman" panose="02020603050405020304" pitchFamily="18" charset="0"/>
                        </a:rPr>
                        <a:t>Mobile Apps, Push Notifications, Analytics Dashboards</a:t>
                      </a:r>
                      <a:endParaRPr lang="en-IN" sz="1700"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700" dirty="0">
                          <a:latin typeface="Times New Roman" panose="02020603050405020304" pitchFamily="18" charset="0"/>
                          <a:cs typeface="Times New Roman" panose="02020603050405020304" pitchFamily="18" charset="0"/>
                        </a:rPr>
                        <a:t>Limited emphasis on peer-to-peer learning and insufficient mechanisms for organizing.</a:t>
                      </a:r>
                    </a:p>
                    <a:p>
                      <a:endParaRPr lang="en-IN" sz="1700" dirty="0">
                        <a:latin typeface="Times New Roman" panose="02020603050405020304" pitchFamily="18" charset="0"/>
                        <a:cs typeface="Times New Roman" panose="02020603050405020304" pitchFamily="18" charset="0"/>
                      </a:endParaRPr>
                    </a:p>
                  </a:txBody>
                  <a:tcPr/>
                </a:tc>
              </a:tr>
            </a:tbl>
          </a:graphicData>
        </a:graphic>
      </p:graphicFrame>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265526" y="108614"/>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30273" y="191626"/>
            <a:ext cx="1396201" cy="12598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of Modules</a:t>
            </a:r>
            <a:endParaRPr dirty="0"/>
          </a:p>
        </p:txBody>
      </p:sp>
      <p:sp>
        <p:nvSpPr>
          <p:cNvPr id="3" name="Content Placeholder 2"/>
          <p:cNvSpPr>
            <a:spLocks noGrp="1"/>
          </p:cNvSpPr>
          <p:nvPr>
            <p:ph idx="1"/>
          </p:nvPr>
        </p:nvSpPr>
        <p:spPr>
          <a:xfrm>
            <a:off x="135978" y="1338725"/>
            <a:ext cx="12034344" cy="5257799"/>
          </a:xfrm>
        </p:spPr>
        <p:txBody>
          <a:bodyPr>
            <a:noAutofit/>
          </a:bodyPr>
          <a:lstStyle/>
          <a:p>
            <a:pPr marL="0" indent="269875">
              <a:lnSpc>
                <a:spcPct val="120000"/>
              </a:lnSpc>
              <a:spcBef>
                <a:spcPts val="600"/>
              </a:spcBef>
              <a:buNone/>
            </a:pPr>
            <a:endParaRPr lang="en-US" sz="2000" b="1" dirty="0">
              <a:latin typeface="Times New Roman" panose="02020603050405020304" pitchFamily="18" charset="0"/>
              <a:cs typeface="Times New Roman" panose="02020603050405020304" pitchFamily="18" charset="0"/>
            </a:endParaRPr>
          </a:p>
          <a:p>
            <a:pPr marL="0" indent="269875">
              <a:lnSpc>
                <a:spcPct val="120000"/>
              </a:lnSpc>
              <a:spcBef>
                <a:spcPts val="600"/>
              </a:spcBef>
              <a:buNone/>
            </a:pPr>
            <a:r>
              <a:rPr lang="en-US" b="1" dirty="0">
                <a:solidFill>
                  <a:schemeClr val="accent6">
                    <a:lumMod val="75000"/>
                  </a:schemeClr>
                </a:solidFill>
                <a:latin typeface="Times New Roman" panose="02020603050405020304" pitchFamily="18" charset="0"/>
                <a:cs typeface="Times New Roman" panose="02020603050405020304" pitchFamily="18" charset="0"/>
              </a:rPr>
              <a:t>Module 1:</a:t>
            </a:r>
            <a:r>
              <a:rPr lang="en-US" altLang="en-US" dirty="0">
                <a:latin typeface="Times New Roman" panose="02020603050405020304" pitchFamily="18" charset="0"/>
                <a:cs typeface="Times New Roman" panose="02020603050405020304" pitchFamily="18" charset="0"/>
              </a:rPr>
              <a:t>Student Attendance Data Collection and Monitoring for Learning Progress Classification</a:t>
            </a:r>
          </a:p>
          <a:p>
            <a:pPr marL="0" indent="269875">
              <a:lnSpc>
                <a:spcPct val="120000"/>
              </a:lnSpc>
              <a:spcBef>
                <a:spcPts val="600"/>
              </a:spcBef>
              <a:buNone/>
            </a:pPr>
            <a:endParaRPr lang="en-US" altLang="en-US" b="1" dirty="0">
              <a:latin typeface="Times New Roman" panose="02020603050405020304" pitchFamily="18" charset="0"/>
              <a:cs typeface="Times New Roman" panose="02020603050405020304" pitchFamily="18" charset="0"/>
            </a:endParaRPr>
          </a:p>
          <a:p>
            <a:pPr marL="0" indent="269875">
              <a:lnSpc>
                <a:spcPct val="120000"/>
              </a:lnSpc>
              <a:spcBef>
                <a:spcPts val="600"/>
              </a:spcBef>
              <a:buNone/>
            </a:pPr>
            <a:r>
              <a:rPr lang="en-US" b="1" dirty="0">
                <a:solidFill>
                  <a:srgbClr val="0070C0"/>
                </a:solidFill>
                <a:latin typeface="Times New Roman" panose="02020603050405020304" pitchFamily="18" charset="0"/>
                <a:cs typeface="Times New Roman" panose="02020603050405020304" pitchFamily="18" charset="0"/>
              </a:rPr>
              <a:t>Module 2:</a:t>
            </a:r>
            <a:r>
              <a:rPr lang="en-US" altLang="en-US" dirty="0">
                <a:latin typeface="Times New Roman" panose="02020603050405020304" pitchFamily="18" charset="0"/>
                <a:cs typeface="Times New Roman" panose="02020603050405020304" pitchFamily="18" charset="0"/>
              </a:rPr>
              <a:t>Analysis of Internal Marks and Assignment Performance</a:t>
            </a:r>
          </a:p>
          <a:p>
            <a:pPr marL="0" indent="269875">
              <a:lnSpc>
                <a:spcPct val="120000"/>
              </a:lnSpc>
              <a:spcBef>
                <a:spcPts val="600"/>
              </a:spcBef>
              <a:buNone/>
            </a:pPr>
            <a:endParaRPr lang="en-US" altLang="en-US" b="1" dirty="0">
              <a:latin typeface="Times New Roman" panose="02020603050405020304" pitchFamily="18" charset="0"/>
              <a:cs typeface="Times New Roman" panose="02020603050405020304" pitchFamily="18" charset="0"/>
            </a:endParaRPr>
          </a:p>
          <a:p>
            <a:pPr marL="0" indent="269875">
              <a:lnSpc>
                <a:spcPct val="120000"/>
              </a:lnSpc>
              <a:spcBef>
                <a:spcPts val="600"/>
              </a:spcBef>
              <a:buNone/>
            </a:pPr>
            <a:r>
              <a:rPr lang="en-US" b="1" dirty="0">
                <a:solidFill>
                  <a:srgbClr val="00B050"/>
                </a:solidFill>
                <a:latin typeface="Times New Roman" panose="02020603050405020304" pitchFamily="18" charset="0"/>
                <a:cs typeface="Times New Roman" panose="02020603050405020304" pitchFamily="18" charset="0"/>
              </a:rPr>
              <a:t>Module 3:</a:t>
            </a:r>
            <a:r>
              <a:rPr lang="en-US" altLang="en-US" dirty="0">
                <a:solidFill>
                  <a:schemeClr val="tx1"/>
                </a:solidFill>
                <a:latin typeface="Times New Roman" panose="02020603050405020304" pitchFamily="18" charset="0"/>
                <a:cs typeface="Times New Roman" panose="02020603050405020304" pitchFamily="18" charset="0"/>
              </a:rPr>
              <a:t>Student Learning Progress Classification and Evaluation</a:t>
            </a:r>
          </a:p>
          <a:p>
            <a:pPr marL="0" indent="269875">
              <a:lnSpc>
                <a:spcPct val="120000"/>
              </a:lnSpc>
              <a:spcBef>
                <a:spcPts val="600"/>
              </a:spcBef>
              <a:buNone/>
            </a:pPr>
            <a:endParaRPr lang="en-US" alt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20000"/>
              </a:lnSpc>
            </a:pPr>
            <a:r>
              <a:rPr lang="en-US" dirty="0">
                <a:solidFill>
                  <a:srgbClr val="FF0000"/>
                </a:solidFill>
              </a:rPr>
              <a:t>Module 1</a:t>
            </a:r>
            <a:r>
              <a:rPr lang="en-US" dirty="0"/>
              <a:t>- Description</a:t>
            </a:r>
          </a:p>
        </p:txBody>
      </p:sp>
      <p:sp>
        <p:nvSpPr>
          <p:cNvPr id="3" name="Content Placeholder 2"/>
          <p:cNvSpPr>
            <a:spLocks noGrp="1"/>
          </p:cNvSpPr>
          <p:nvPr>
            <p:ph idx="1"/>
          </p:nvPr>
        </p:nvSpPr>
        <p:spPr>
          <a:xfrm>
            <a:off x="78828" y="1500650"/>
            <a:ext cx="12034344" cy="5257799"/>
          </a:xfrm>
        </p:spPr>
        <p:txBody>
          <a:bodyPr>
            <a:noAutofit/>
          </a:bodyPr>
          <a:lstStyle/>
          <a:p>
            <a:pPr marL="0" indent="269875">
              <a:lnSpc>
                <a:spcPct val="120000"/>
              </a:lnSpc>
              <a:spcBef>
                <a:spcPts val="600"/>
              </a:spcBef>
              <a:buNone/>
            </a:pPr>
            <a:endParaRPr lang="en-US" sz="2000" b="1" dirty="0">
              <a:latin typeface="Arial" panose="020B0604020202020204" pitchFamily="34" charset="0"/>
              <a:cs typeface="Arial" panose="020B0604020202020204" pitchFamily="34" charset="0"/>
            </a:endParaRPr>
          </a:p>
          <a:p>
            <a:pPr marL="0" indent="269875">
              <a:lnSpc>
                <a:spcPct val="120000"/>
              </a:lnSpc>
              <a:spcBef>
                <a:spcPts val="600"/>
              </a:spcBef>
              <a:buNone/>
            </a:pPr>
            <a:endParaRPr lang="en-US" b="1" dirty="0">
              <a:latin typeface="Arial" panose="020B0604020202020204" pitchFamily="34" charset="0"/>
              <a:cs typeface="Arial" panose="020B0604020202020204" pitchFamily="34" charset="0"/>
            </a:endParaRPr>
          </a:p>
          <a:p>
            <a:pPr marL="0" indent="269875">
              <a:lnSpc>
                <a:spcPct val="120000"/>
              </a:lnSpc>
              <a:spcBef>
                <a:spcPts val="600"/>
              </a:spcBef>
              <a:buNone/>
            </a:pPr>
            <a:endParaRPr lang="en-US" b="1" dirty="0">
              <a:latin typeface="Arial" panose="020B0604020202020204" pitchFamily="34" charset="0"/>
              <a:cs typeface="Arial" panose="020B0604020202020204" pitchFamily="34" charset="0"/>
            </a:endParaRP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6" name="Text Box 5"/>
          <p:cNvSpPr txBox="1"/>
          <p:nvPr/>
        </p:nvSpPr>
        <p:spPr>
          <a:xfrm>
            <a:off x="480695" y="1791989"/>
            <a:ext cx="7413625" cy="4708981"/>
          </a:xfrm>
          <a:prstGeom prst="rect">
            <a:avLst/>
          </a:prstGeom>
          <a:noFill/>
        </p:spPr>
        <p:txBody>
          <a:bodyPr wrap="square" rtlCol="0">
            <a:spAutoFit/>
          </a:bodyPr>
          <a:lstStyle/>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This module focuses on collecting and analyzing student attendance data to assess learning consistency and classroom engagement.</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Attendance percentages are calculated for each student to identify patterns of regularity and absenteeism.</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Students with low attendance levels are identified as potential academically at-risk learners.</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Attendance trends are used as a key indicator for early detection of slow learners before performance declines.</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processed attendance features are forwarded to the classification module for integrated learning progress analysis.</a:t>
            </a:r>
          </a:p>
        </p:txBody>
      </p:sp>
      <p:pic>
        <p:nvPicPr>
          <p:cNvPr id="8" name="Picture 7"/>
          <p:cNvPicPr>
            <a:picLocks noChangeAspect="1"/>
          </p:cNvPicPr>
          <p:nvPr/>
        </p:nvPicPr>
        <p:blipFill>
          <a:blip r:embed="rId4"/>
          <a:srcRect l="20109" r="19083"/>
          <a:stretch>
            <a:fillRect/>
          </a:stretch>
        </p:blipFill>
        <p:spPr>
          <a:xfrm>
            <a:off x="7894320" y="1500650"/>
            <a:ext cx="4020185" cy="4560410"/>
          </a:xfrm>
          <a:prstGeom prst="rect">
            <a:avLst/>
          </a:prstGeom>
        </p:spPr>
      </p:pic>
      <p:sp>
        <p:nvSpPr>
          <p:cNvPr id="9" name="TextBox 8"/>
          <p:cNvSpPr txBox="1"/>
          <p:nvPr/>
        </p:nvSpPr>
        <p:spPr>
          <a:xfrm>
            <a:off x="7995920" y="6278880"/>
            <a:ext cx="358648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Module 1: Data Upload &amp; Preview</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20000"/>
              </a:lnSpc>
            </a:pPr>
            <a:r>
              <a:rPr lang="en-US" dirty="0">
                <a:solidFill>
                  <a:srgbClr val="0070C0"/>
                </a:solidFill>
              </a:rPr>
              <a:t>Module 2</a:t>
            </a:r>
            <a:r>
              <a:rPr lang="en-US" dirty="0"/>
              <a:t>- Description</a:t>
            </a:r>
          </a:p>
        </p:txBody>
      </p:sp>
      <p:sp>
        <p:nvSpPr>
          <p:cNvPr id="3" name="Content Placeholder 2"/>
          <p:cNvSpPr>
            <a:spLocks noGrp="1"/>
          </p:cNvSpPr>
          <p:nvPr>
            <p:ph idx="1"/>
          </p:nvPr>
        </p:nvSpPr>
        <p:spPr>
          <a:xfrm>
            <a:off x="78828" y="1500650"/>
            <a:ext cx="12034344" cy="5257799"/>
          </a:xfrm>
        </p:spPr>
        <p:txBody>
          <a:bodyPr>
            <a:noAutofit/>
          </a:bodyPr>
          <a:lstStyle/>
          <a:p>
            <a:pPr marL="0" indent="269875">
              <a:lnSpc>
                <a:spcPct val="120000"/>
              </a:lnSpc>
              <a:spcBef>
                <a:spcPts val="600"/>
              </a:spcBef>
              <a:buNone/>
            </a:pPr>
            <a:endParaRPr lang="en-US" sz="2000" b="1" dirty="0">
              <a:latin typeface="Arial" panose="020B0604020202020204" pitchFamily="34" charset="0"/>
              <a:cs typeface="Arial" panose="020B0604020202020204" pitchFamily="34" charset="0"/>
            </a:endParaRPr>
          </a:p>
          <a:p>
            <a:pPr marL="0" indent="269875">
              <a:lnSpc>
                <a:spcPct val="120000"/>
              </a:lnSpc>
              <a:spcBef>
                <a:spcPts val="600"/>
              </a:spcBef>
              <a:buNone/>
            </a:pPr>
            <a:endParaRPr lang="en-US" b="1" dirty="0">
              <a:latin typeface="Arial" panose="020B0604020202020204" pitchFamily="34" charset="0"/>
              <a:cs typeface="Arial" panose="020B0604020202020204" pitchFamily="34" charset="0"/>
            </a:endParaRPr>
          </a:p>
          <a:p>
            <a:pPr marL="0" indent="269875">
              <a:lnSpc>
                <a:spcPct val="120000"/>
              </a:lnSpc>
              <a:spcBef>
                <a:spcPts val="600"/>
              </a:spcBef>
              <a:buNone/>
            </a:pPr>
            <a:endParaRPr lang="en-US" b="1" dirty="0">
              <a:latin typeface="Arial" panose="020B0604020202020204" pitchFamily="34" charset="0"/>
              <a:cs typeface="Arial" panose="020B0604020202020204" pitchFamily="34" charset="0"/>
            </a:endParaRP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6" name="Text Box 5"/>
          <p:cNvSpPr txBox="1"/>
          <p:nvPr/>
        </p:nvSpPr>
        <p:spPr>
          <a:xfrm>
            <a:off x="254498" y="1834515"/>
            <a:ext cx="8056382" cy="4401205"/>
          </a:xfrm>
          <a:prstGeom prst="rect">
            <a:avLst/>
          </a:prstGeom>
          <a:noFill/>
        </p:spPr>
        <p:txBody>
          <a:bodyPr wrap="square" rtlCol="0">
            <a:spAutoFit/>
          </a:bodyPr>
          <a:lstStyle/>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This module analyzes internal assessment marks and assignment scores to evaluate students’ academic understanding and performance levels.</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Performance trends are identified by comparing scores across internal tests and assignments.</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Students with consistently low marks and poor assignment performance are flagged as academically at risk.</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module helps in understanding subject-wise strengths and weaknesses of students.</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processed performance data is passed to the classification module for final learning progress evaluation.</a:t>
            </a:r>
          </a:p>
        </p:txBody>
      </p:sp>
      <p:pic>
        <p:nvPicPr>
          <p:cNvPr id="8" name="Picture 7"/>
          <p:cNvPicPr>
            <a:picLocks noChangeAspect="1"/>
          </p:cNvPicPr>
          <p:nvPr/>
        </p:nvPicPr>
        <p:blipFill>
          <a:blip r:embed="rId4"/>
          <a:srcRect l="6360" r="6081" b="7966"/>
          <a:stretch>
            <a:fillRect/>
          </a:stretch>
        </p:blipFill>
        <p:spPr>
          <a:xfrm>
            <a:off x="8603226" y="1834515"/>
            <a:ext cx="3175819" cy="3661717"/>
          </a:xfrm>
          <a:prstGeom prst="rect">
            <a:avLst/>
          </a:prstGeom>
          <a:solidFill>
            <a:schemeClr val="tx1"/>
          </a:solidFill>
        </p:spPr>
      </p:pic>
      <p:sp>
        <p:nvSpPr>
          <p:cNvPr id="9" name="TextBox 8"/>
          <p:cNvSpPr txBox="1"/>
          <p:nvPr/>
        </p:nvSpPr>
        <p:spPr>
          <a:xfrm>
            <a:off x="8486550" y="5712542"/>
            <a:ext cx="2987695"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Module 2: Student Performance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20000"/>
              </a:lnSpc>
            </a:pPr>
            <a:r>
              <a:rPr lang="en-US" dirty="0">
                <a:solidFill>
                  <a:srgbClr val="00B050"/>
                </a:solidFill>
              </a:rPr>
              <a:t>Module 3</a:t>
            </a:r>
            <a:r>
              <a:rPr lang="en-US" dirty="0"/>
              <a:t>- Description</a:t>
            </a:r>
          </a:p>
        </p:txBody>
      </p:sp>
      <p:sp>
        <p:nvSpPr>
          <p:cNvPr id="3" name="Content Placeholder 2"/>
          <p:cNvSpPr>
            <a:spLocks noGrp="1"/>
          </p:cNvSpPr>
          <p:nvPr>
            <p:ph idx="1"/>
          </p:nvPr>
        </p:nvSpPr>
        <p:spPr>
          <a:xfrm>
            <a:off x="78828" y="1500650"/>
            <a:ext cx="12034344" cy="5257799"/>
          </a:xfrm>
        </p:spPr>
        <p:txBody>
          <a:bodyPr>
            <a:noAutofit/>
          </a:bodyPr>
          <a:lstStyle/>
          <a:p>
            <a:pPr marL="0" indent="269875">
              <a:lnSpc>
                <a:spcPct val="120000"/>
              </a:lnSpc>
              <a:spcBef>
                <a:spcPts val="600"/>
              </a:spcBef>
              <a:buNone/>
            </a:pPr>
            <a:endParaRPr lang="en-US" sz="2000" b="1" dirty="0">
              <a:latin typeface="Arial" panose="020B0604020202020204" pitchFamily="34" charset="0"/>
              <a:cs typeface="Arial" panose="020B0604020202020204" pitchFamily="34" charset="0"/>
            </a:endParaRPr>
          </a:p>
          <a:p>
            <a:pPr marL="0" indent="269875">
              <a:lnSpc>
                <a:spcPct val="120000"/>
              </a:lnSpc>
              <a:spcBef>
                <a:spcPts val="600"/>
              </a:spcBef>
              <a:buNone/>
            </a:pPr>
            <a:endParaRPr lang="en-US" b="1" dirty="0">
              <a:latin typeface="Arial" panose="020B0604020202020204" pitchFamily="34" charset="0"/>
              <a:cs typeface="Arial" panose="020B0604020202020204" pitchFamily="34" charset="0"/>
            </a:endParaRPr>
          </a:p>
          <a:p>
            <a:pPr marL="0" indent="269875">
              <a:lnSpc>
                <a:spcPct val="120000"/>
              </a:lnSpc>
              <a:spcBef>
                <a:spcPts val="600"/>
              </a:spcBef>
              <a:buNone/>
            </a:pPr>
            <a:endParaRPr lang="en-US" b="1" dirty="0">
              <a:latin typeface="Arial" panose="020B0604020202020204" pitchFamily="34" charset="0"/>
              <a:cs typeface="Arial" panose="020B0604020202020204" pitchFamily="34" charset="0"/>
            </a:endParaRP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6" name="Text Box 5"/>
          <p:cNvSpPr txBox="1"/>
          <p:nvPr/>
        </p:nvSpPr>
        <p:spPr>
          <a:xfrm>
            <a:off x="470535" y="1852948"/>
            <a:ext cx="7139305" cy="4708981"/>
          </a:xfrm>
          <a:prstGeom prst="rect">
            <a:avLst/>
          </a:prstGeom>
          <a:noFill/>
        </p:spPr>
        <p:txBody>
          <a:bodyPr wrap="square" rtlCol="0">
            <a:spAutoFit/>
          </a:bodyPr>
          <a:lstStyle/>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This module integrates attendance data with internal marks and assignment scores for comprehensive analysis.</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Machine learning algorithms such as Decision Tree and Naïve Bayes are applied to classify students based on learning progress.</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system categorizes students into learning progress groups such as slow learners and regular performers.</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Model performance is evaluated using accuracy, recall, and F1-score.</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final classification results support early academic intervention and informed decision-making.</a:t>
            </a:r>
          </a:p>
        </p:txBody>
      </p:sp>
      <p:pic>
        <p:nvPicPr>
          <p:cNvPr id="8" name="Picture 7"/>
          <p:cNvPicPr>
            <a:picLocks noChangeAspect="1"/>
          </p:cNvPicPr>
          <p:nvPr/>
        </p:nvPicPr>
        <p:blipFill>
          <a:blip r:embed="rId4"/>
          <a:stretch>
            <a:fillRect/>
          </a:stretch>
        </p:blipFill>
        <p:spPr>
          <a:xfrm>
            <a:off x="7482348" y="1656428"/>
            <a:ext cx="4100052" cy="4311753"/>
          </a:xfrm>
          <a:prstGeom prst="rect">
            <a:avLst/>
          </a:prstGeom>
        </p:spPr>
      </p:pic>
      <p:sp>
        <p:nvSpPr>
          <p:cNvPr id="9" name="TextBox 8"/>
          <p:cNvSpPr txBox="1"/>
          <p:nvPr/>
        </p:nvSpPr>
        <p:spPr>
          <a:xfrm>
            <a:off x="7609840" y="5925232"/>
            <a:ext cx="3785747"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Module 3: Automated Alert &amp; Notification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pPr>
              <a:lnSpc>
                <a:spcPct val="120000"/>
              </a:lnSpc>
            </a:pPr>
            <a:r>
              <a:rPr dirty="0"/>
              <a:t>Architecture</a:t>
            </a:r>
            <a:r>
              <a:rPr lang="en-US" dirty="0"/>
              <a:t> Diagram</a:t>
            </a:r>
            <a:endParaRPr dirty="0"/>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3" name="Rectangle: Rounded Corners 2"/>
          <p:cNvSpPr/>
          <p:nvPr/>
        </p:nvSpPr>
        <p:spPr>
          <a:xfrm>
            <a:off x="884903" y="2015613"/>
            <a:ext cx="2802194" cy="1868129"/>
          </a:xfrm>
          <a:prstGeom prst="round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endParaRPr lang="en-US" sz="1300" b="1" dirty="0">
              <a:latin typeface="Times New Roman" panose="02020603050405020304" pitchFamily="18" charset="0"/>
              <a:cs typeface="Times New Roman" panose="02020603050405020304" pitchFamily="18" charset="0"/>
            </a:endParaRPr>
          </a:p>
          <a:p>
            <a:r>
              <a:rPr lang="en-US" sz="1300" b="1" dirty="0">
                <a:solidFill>
                  <a:schemeClr val="tx1"/>
                </a:solidFill>
                <a:latin typeface="Times New Roman" panose="02020603050405020304" pitchFamily="18" charset="0"/>
                <a:cs typeface="Times New Roman" panose="02020603050405020304" pitchFamily="18" charset="0"/>
              </a:rPr>
              <a:t>Data Upload</a:t>
            </a:r>
          </a:p>
          <a:p>
            <a:pPr marL="285750" indent="-285750">
              <a:buFont typeface="Wingdings" panose="05000000000000000000" pitchFamily="2" charset="2"/>
              <a:buChar char="§"/>
            </a:pPr>
            <a:r>
              <a:rPr lang="en-US" sz="1300" dirty="0">
                <a:latin typeface="Times New Roman" panose="02020603050405020304" pitchFamily="18" charset="0"/>
                <a:cs typeface="Times New Roman" panose="02020603050405020304" pitchFamily="18" charset="0"/>
              </a:rPr>
              <a:t>CSV / Excel File Upload</a:t>
            </a:r>
          </a:p>
          <a:p>
            <a:pPr marL="285750" indent="-285750">
              <a:buFont typeface="Wingdings" panose="05000000000000000000" pitchFamily="2" charset="2"/>
              <a:buChar char="§"/>
            </a:pPr>
            <a:r>
              <a:rPr lang="en-US" sz="1300" dirty="0">
                <a:latin typeface="Times New Roman" panose="02020603050405020304" pitchFamily="18" charset="0"/>
                <a:cs typeface="Times New Roman" panose="02020603050405020304" pitchFamily="18" charset="0"/>
              </a:rPr>
              <a:t>Dataset Preview</a:t>
            </a:r>
          </a:p>
          <a:p>
            <a:pPr marL="285750" indent="-285750">
              <a:buFont typeface="Wingdings" panose="05000000000000000000" pitchFamily="2" charset="2"/>
              <a:buChar char="§"/>
            </a:pPr>
            <a:r>
              <a:rPr lang="en-US" sz="1300" dirty="0">
                <a:latin typeface="Times New Roman" panose="02020603050405020304" pitchFamily="18" charset="0"/>
                <a:cs typeface="Times New Roman" panose="02020603050405020304" pitchFamily="18" charset="0"/>
              </a:rPr>
              <a:t>Control Selection</a:t>
            </a:r>
          </a:p>
          <a:p>
            <a:endParaRPr lang="en-US" sz="1300" dirty="0">
              <a:latin typeface="Times New Roman" panose="02020603050405020304" pitchFamily="18" charset="0"/>
              <a:cs typeface="Times New Roman" panose="02020603050405020304" pitchFamily="18" charset="0"/>
            </a:endParaRPr>
          </a:p>
          <a:p>
            <a:r>
              <a:rPr lang="en-US" sz="1300" i="1" dirty="0">
                <a:latin typeface="Times New Roman" panose="02020603050405020304" pitchFamily="18" charset="0"/>
                <a:cs typeface="Times New Roman" panose="02020603050405020304" pitchFamily="18" charset="0"/>
              </a:rPr>
              <a:t>Upload and preview academic data files while selecting initial controls and features.</a:t>
            </a:r>
            <a:endParaRPr lang="en-US" sz="1300" dirty="0">
              <a:latin typeface="Times New Roman" panose="02020603050405020304" pitchFamily="18" charset="0"/>
              <a:cs typeface="Times New Roman" panose="02020603050405020304" pitchFamily="18" charset="0"/>
            </a:endParaRPr>
          </a:p>
          <a:p>
            <a:pPr algn="ctr"/>
            <a:endParaRPr lang="en-IN" sz="1300" dirty="0">
              <a:latin typeface="Times New Roman" panose="02020603050405020304" pitchFamily="18" charset="0"/>
              <a:cs typeface="Times New Roman" panose="02020603050405020304" pitchFamily="18" charset="0"/>
            </a:endParaRPr>
          </a:p>
        </p:txBody>
      </p:sp>
      <p:sp>
        <p:nvSpPr>
          <p:cNvPr id="6" name="Rectangle: Rounded Corners 5"/>
          <p:cNvSpPr/>
          <p:nvPr/>
        </p:nvSpPr>
        <p:spPr>
          <a:xfrm>
            <a:off x="4748981" y="2015613"/>
            <a:ext cx="3224980" cy="1868129"/>
          </a:xfrm>
          <a:prstGeom prst="roundRect">
            <a:avLst/>
          </a:prstGeom>
          <a:solidFill>
            <a:schemeClr val="accent3">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sz="1300" b="1" dirty="0">
                <a:solidFill>
                  <a:schemeClr val="tx1"/>
                </a:solidFill>
                <a:latin typeface="Times New Roman" panose="02020603050405020304" pitchFamily="18" charset="0"/>
                <a:cs typeface="Times New Roman" panose="02020603050405020304" pitchFamily="18" charset="0"/>
              </a:rPr>
              <a:t>Data Preprocessing</a:t>
            </a:r>
          </a:p>
          <a:p>
            <a:pPr marL="171450" indent="-1714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Input Validation</a:t>
            </a:r>
          </a:p>
          <a:p>
            <a:pPr marL="171450" indent="-1714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Missing Value Handling</a:t>
            </a:r>
          </a:p>
          <a:p>
            <a:pPr marL="171450" indent="-1714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Formatting &amp; Cleaning</a:t>
            </a:r>
          </a:p>
          <a:p>
            <a:pPr marL="171450" indent="-171450">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r>
              <a:rPr lang="en-US" sz="1300" i="1" dirty="0">
                <a:latin typeface="Times New Roman" panose="02020603050405020304" pitchFamily="18" charset="0"/>
                <a:cs typeface="Times New Roman" panose="02020603050405020304" pitchFamily="18" charset="0"/>
              </a:rPr>
              <a:t>Transform and clean raw academic data to ensure consistency and reliability for analysis.</a:t>
            </a:r>
            <a:endParaRPr lang="en-US" sz="1300"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924909" y="4364845"/>
            <a:ext cx="2802189" cy="1868129"/>
          </a:xfrm>
          <a:prstGeom prst="round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sz="1200" b="1" dirty="0">
                <a:solidFill>
                  <a:schemeClr val="tx1"/>
                </a:solidFill>
                <a:latin typeface="Times New Roman" panose="02020603050405020304" pitchFamily="18" charset="0"/>
                <a:cs typeface="Times New Roman" panose="02020603050405020304" pitchFamily="18" charset="0"/>
              </a:rPr>
              <a:t>Feature Engineering</a:t>
            </a:r>
          </a:p>
          <a:p>
            <a:pPr marL="171450" indent="-171450">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Attendance Calculation</a:t>
            </a:r>
          </a:p>
          <a:p>
            <a:pPr marL="171450" indent="-171450">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Internal Marks Averaging</a:t>
            </a:r>
          </a:p>
          <a:p>
            <a:pPr marL="171450" indent="-171450">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Normalization &amp; Scaling</a:t>
            </a:r>
          </a:p>
          <a:p>
            <a:pPr marL="171450" indent="-171450">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Feature Selection</a:t>
            </a:r>
          </a:p>
          <a:p>
            <a:pPr marL="171450" indent="-171450">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a:p>
            <a:r>
              <a:rPr lang="en-US" sz="1200" i="1" dirty="0">
                <a:latin typeface="Times New Roman" panose="02020603050405020304" pitchFamily="18" charset="0"/>
                <a:cs typeface="Times New Roman" panose="02020603050405020304" pitchFamily="18" charset="0"/>
              </a:rPr>
              <a:t>Generate meaningful learning features from academic records.</a:t>
            </a:r>
            <a:endParaRPr lang="en-US" sz="1200" dirty="0">
              <a:latin typeface="Times New Roman" panose="02020603050405020304" pitchFamily="18" charset="0"/>
              <a:cs typeface="Times New Roman" panose="02020603050405020304" pitchFamily="18" charset="0"/>
            </a:endParaRPr>
          </a:p>
        </p:txBody>
      </p:sp>
      <p:sp>
        <p:nvSpPr>
          <p:cNvPr id="8" name="Rectangle: Rounded Corners 7"/>
          <p:cNvSpPr/>
          <p:nvPr/>
        </p:nvSpPr>
        <p:spPr>
          <a:xfrm>
            <a:off x="8994549" y="1907458"/>
            <a:ext cx="2802194" cy="1868129"/>
          </a:xfrm>
          <a:prstGeom prst="roundRect">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numCol="2" rtlCol="0" anchor="ctr"/>
          <a:lstStyle/>
          <a:p>
            <a:r>
              <a:rPr lang="en-IN" sz="1300" b="1" dirty="0">
                <a:solidFill>
                  <a:schemeClr val="tx1"/>
                </a:solidFill>
                <a:latin typeface="Times New Roman" panose="02020603050405020304" pitchFamily="18" charset="0"/>
                <a:cs typeface="Times New Roman" panose="02020603050405020304" pitchFamily="18" charset="0"/>
              </a:rPr>
              <a:t>Model Training</a:t>
            </a:r>
          </a:p>
          <a:p>
            <a:r>
              <a:rPr lang="en-IN" sz="1300" b="1" dirty="0">
                <a:latin typeface="Times New Roman" panose="02020603050405020304" pitchFamily="18" charset="0"/>
                <a:cs typeface="Times New Roman" panose="02020603050405020304" pitchFamily="18" charset="0"/>
              </a:rPr>
              <a:t>Supervised Models</a:t>
            </a:r>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Decision Tree</a:t>
            </a:r>
          </a:p>
          <a:p>
            <a:r>
              <a:rPr lang="en-IN" sz="1300" dirty="0">
                <a:latin typeface="Times New Roman" panose="02020603050405020304" pitchFamily="18" charset="0"/>
                <a:cs typeface="Times New Roman" panose="02020603050405020304" pitchFamily="18" charset="0"/>
              </a:rPr>
              <a:t>Naïve Bayes</a:t>
            </a:r>
          </a:p>
          <a:p>
            <a:endParaRPr lang="en-IN" sz="1300" dirty="0">
              <a:latin typeface="Times New Roman" panose="02020603050405020304" pitchFamily="18" charset="0"/>
              <a:cs typeface="Times New Roman" panose="02020603050405020304" pitchFamily="18" charset="0"/>
            </a:endParaRPr>
          </a:p>
          <a:p>
            <a:endParaRPr lang="en-IN" sz="1300" dirty="0">
              <a:latin typeface="Times New Roman" panose="02020603050405020304" pitchFamily="18" charset="0"/>
              <a:cs typeface="Times New Roman" panose="02020603050405020304" pitchFamily="18" charset="0"/>
            </a:endParaRPr>
          </a:p>
          <a:p>
            <a:endParaRPr lang="en-IN" sz="1300" dirty="0">
              <a:latin typeface="Times New Roman" panose="02020603050405020304" pitchFamily="18" charset="0"/>
              <a:cs typeface="Times New Roman" panose="02020603050405020304" pitchFamily="18" charset="0"/>
            </a:endParaRPr>
          </a:p>
          <a:p>
            <a:r>
              <a:rPr lang="en-IN" sz="1300" b="1" dirty="0">
                <a:latin typeface="Times New Roman" panose="02020603050405020304" pitchFamily="18" charset="0"/>
                <a:cs typeface="Times New Roman" panose="02020603050405020304" pitchFamily="18" charset="0"/>
              </a:rPr>
              <a:t>Evaluation Metrics</a:t>
            </a:r>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Accuracy</a:t>
            </a:r>
          </a:p>
          <a:p>
            <a:r>
              <a:rPr lang="en-IN" sz="1300" dirty="0">
                <a:latin typeface="Times New Roman" panose="02020603050405020304" pitchFamily="18" charset="0"/>
                <a:cs typeface="Times New Roman" panose="02020603050405020304" pitchFamily="18" charset="0"/>
              </a:rPr>
              <a:t>Precision</a:t>
            </a:r>
          </a:p>
          <a:p>
            <a:r>
              <a:rPr lang="en-IN" sz="1300" dirty="0">
                <a:latin typeface="Times New Roman" panose="02020603050405020304" pitchFamily="18" charset="0"/>
                <a:cs typeface="Times New Roman" panose="02020603050405020304" pitchFamily="18" charset="0"/>
              </a:rPr>
              <a:t>Recall</a:t>
            </a:r>
          </a:p>
        </p:txBody>
      </p:sp>
      <p:sp>
        <p:nvSpPr>
          <p:cNvPr id="9" name="Rectangle: Rounded Corners 8"/>
          <p:cNvSpPr/>
          <p:nvPr/>
        </p:nvSpPr>
        <p:spPr>
          <a:xfrm>
            <a:off x="4718812" y="4481717"/>
            <a:ext cx="3043756" cy="1868129"/>
          </a:xfrm>
          <a:prstGeom prst="roundRect">
            <a:avLst/>
          </a:prstGeom>
          <a:solidFill>
            <a:schemeClr val="accent4">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chemeClr val="tx1"/>
                </a:solidFill>
                <a:latin typeface="Times New Roman" panose="02020603050405020304" pitchFamily="18" charset="0"/>
                <a:cs typeface="Times New Roman" panose="02020603050405020304" pitchFamily="18" charset="0"/>
              </a:rPr>
              <a:t>Model Training &amp; Evaluation</a:t>
            </a:r>
          </a:p>
          <a:p>
            <a:pPr marL="285750" indent="-285750">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Supervised Model Training</a:t>
            </a:r>
          </a:p>
          <a:p>
            <a:pPr marL="285750" indent="-285750">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Performance Validation</a:t>
            </a:r>
          </a:p>
          <a:p>
            <a:pPr marL="285750" indent="-285750">
              <a:buFont typeface="Wingdings" panose="05000000000000000000" pitchFamily="2" charset="2"/>
              <a:buChar char="§"/>
            </a:pPr>
            <a:endParaRPr lang="en-US" sz="1400" dirty="0">
              <a:latin typeface="Times New Roman" panose="02020603050405020304" pitchFamily="18" charset="0"/>
              <a:cs typeface="Times New Roman" panose="02020603050405020304" pitchFamily="18" charset="0"/>
            </a:endParaRPr>
          </a:p>
          <a:p>
            <a:r>
              <a:rPr lang="en-US" sz="1400" i="1" dirty="0">
                <a:latin typeface="Times New Roman" panose="02020603050405020304" pitchFamily="18" charset="0"/>
                <a:cs typeface="Times New Roman" panose="02020603050405020304" pitchFamily="18" charset="0"/>
              </a:rPr>
              <a:t>Evaluate trained models to ensure reliable and accurate learning classification.</a:t>
            </a:r>
            <a:endParaRPr lang="en-US" sz="1400" dirty="0">
              <a:latin typeface="Times New Roman" panose="02020603050405020304" pitchFamily="18" charset="0"/>
              <a:cs typeface="Times New Roman" panose="02020603050405020304" pitchFamily="18" charset="0"/>
            </a:endParaRPr>
          </a:p>
        </p:txBody>
      </p:sp>
      <p:sp>
        <p:nvSpPr>
          <p:cNvPr id="10" name="Rectangle: Rounded Corners 9"/>
          <p:cNvSpPr/>
          <p:nvPr/>
        </p:nvSpPr>
        <p:spPr>
          <a:xfrm>
            <a:off x="8858864" y="4481717"/>
            <a:ext cx="2802194" cy="1868129"/>
          </a:xfrm>
          <a:prstGeom prst="round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sz="1300" b="1" dirty="0">
                <a:solidFill>
                  <a:schemeClr val="tx1"/>
                </a:solidFill>
                <a:latin typeface="Times New Roman" panose="02020603050405020304" pitchFamily="18" charset="0"/>
                <a:cs typeface="Times New Roman" panose="02020603050405020304" pitchFamily="18" charset="0"/>
              </a:rPr>
              <a:t>Learning Status Classification</a:t>
            </a:r>
            <a:endParaRPr lang="en-US" sz="1300"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300" dirty="0">
                <a:latin typeface="Times New Roman" panose="02020603050405020304" pitchFamily="18" charset="0"/>
                <a:cs typeface="Times New Roman" panose="02020603050405020304" pitchFamily="18" charset="0"/>
              </a:rPr>
              <a:t>Slow Learner Alerts</a:t>
            </a:r>
          </a:p>
          <a:p>
            <a:pPr marL="285750" indent="-285750">
              <a:buFont typeface="Wingdings" panose="05000000000000000000" pitchFamily="2" charset="2"/>
              <a:buChar char="§"/>
            </a:pPr>
            <a:r>
              <a:rPr lang="en-US" sz="1300" dirty="0">
                <a:latin typeface="Times New Roman" panose="02020603050405020304" pitchFamily="18" charset="0"/>
                <a:cs typeface="Times New Roman" panose="02020603050405020304" pitchFamily="18" charset="0"/>
              </a:rPr>
              <a:t>Insights Dashboard</a:t>
            </a:r>
          </a:p>
          <a:p>
            <a:pPr marL="285750" indent="-285750">
              <a:buFont typeface="Wingdings" panose="05000000000000000000" pitchFamily="2" charset="2"/>
              <a:buChar char="§"/>
            </a:pPr>
            <a:r>
              <a:rPr lang="en-US" sz="1300" dirty="0">
                <a:latin typeface="Times New Roman" panose="02020603050405020304" pitchFamily="18" charset="0"/>
                <a:cs typeface="Times New Roman" panose="02020603050405020304" pitchFamily="18" charset="0"/>
              </a:rPr>
              <a:t>Email Notifications</a:t>
            </a:r>
          </a:p>
          <a:p>
            <a:endParaRPr lang="en-US" sz="1300" dirty="0">
              <a:latin typeface="Times New Roman" panose="02020603050405020304" pitchFamily="18" charset="0"/>
              <a:cs typeface="Times New Roman" panose="02020603050405020304" pitchFamily="18" charset="0"/>
            </a:endParaRPr>
          </a:p>
          <a:p>
            <a:r>
              <a:rPr lang="en-US" sz="1300" i="1" dirty="0">
                <a:latin typeface="Times New Roman" panose="02020603050405020304" pitchFamily="18" charset="0"/>
                <a:cs typeface="Times New Roman" panose="02020603050405020304" pitchFamily="18" charset="0"/>
              </a:rPr>
              <a:t>Classify students as Slow, Average, or Good learners and generate actionable insights and alerts.</a:t>
            </a:r>
            <a:endParaRPr lang="en-US" sz="1300" dirty="0">
              <a:latin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a:off x="3873910" y="2841523"/>
            <a:ext cx="66859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p:cNvCxnSpPr/>
          <p:nvPr/>
        </p:nvCxnSpPr>
        <p:spPr>
          <a:xfrm>
            <a:off x="8190271" y="2846440"/>
            <a:ext cx="66859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p:cNvCxnSpPr/>
          <p:nvPr/>
        </p:nvCxnSpPr>
        <p:spPr>
          <a:xfrm>
            <a:off x="10402529" y="3949445"/>
            <a:ext cx="0" cy="4652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p:cNvCxnSpPr/>
          <p:nvPr/>
        </p:nvCxnSpPr>
        <p:spPr>
          <a:xfrm>
            <a:off x="3903407" y="5415781"/>
            <a:ext cx="63909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p:cNvCxnSpPr/>
          <p:nvPr/>
        </p:nvCxnSpPr>
        <p:spPr>
          <a:xfrm flipV="1">
            <a:off x="6341805" y="4016478"/>
            <a:ext cx="0" cy="3982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p:cNvCxnSpPr/>
          <p:nvPr/>
        </p:nvCxnSpPr>
        <p:spPr>
          <a:xfrm>
            <a:off x="7973961" y="5468065"/>
            <a:ext cx="63909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TextBox 28"/>
          <p:cNvSpPr txBox="1"/>
          <p:nvPr/>
        </p:nvSpPr>
        <p:spPr>
          <a:xfrm>
            <a:off x="9187426" y="3131867"/>
            <a:ext cx="2473632" cy="600164"/>
          </a:xfrm>
          <a:prstGeom prst="rect">
            <a:avLst/>
          </a:prstGeom>
          <a:noFill/>
        </p:spPr>
        <p:txBody>
          <a:bodyPr wrap="square" rtlCol="0">
            <a:spAutoFit/>
          </a:bodyPr>
          <a:lstStyle/>
          <a:p>
            <a:r>
              <a:rPr lang="en-IN" sz="1100" i="1" dirty="0">
                <a:solidFill>
                  <a:schemeClr val="bg1"/>
                </a:solidFill>
                <a:latin typeface="Times New Roman" panose="02020603050405020304" pitchFamily="18" charset="0"/>
                <a:cs typeface="Times New Roman" panose="02020603050405020304" pitchFamily="18" charset="0"/>
              </a:rPr>
              <a:t>Train and validate machine learning models to classify student learning progress.</a:t>
            </a:r>
            <a:endParaRPr lang="en-IN" sz="11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pPr>
              <a:lnSpc>
                <a:spcPct val="120000"/>
              </a:lnSpc>
            </a:pPr>
            <a:r>
              <a:rPr dirty="0">
                <a:latin typeface="Times New Roman" panose="02020603050405020304" pitchFamily="18" charset="0"/>
                <a:cs typeface="Times New Roman" panose="02020603050405020304" pitchFamily="18" charset="0"/>
              </a:rPr>
              <a:t>Architecture</a:t>
            </a:r>
            <a:r>
              <a:rPr lang="en-US" dirty="0">
                <a:latin typeface="Times New Roman" panose="02020603050405020304" pitchFamily="18" charset="0"/>
                <a:cs typeface="Times New Roman" panose="02020603050405020304" pitchFamily="18" charset="0"/>
              </a:rPr>
              <a:t> Description</a:t>
            </a:r>
            <a:endParaRPr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3" name="Text Box 2"/>
          <p:cNvSpPr txBox="1"/>
          <p:nvPr/>
        </p:nvSpPr>
        <p:spPr>
          <a:xfrm>
            <a:off x="561975" y="1909445"/>
            <a:ext cx="11019790" cy="4401205"/>
          </a:xfrm>
          <a:prstGeom prst="rect">
            <a:avLst/>
          </a:prstGeom>
          <a:noFill/>
        </p:spPr>
        <p:txBody>
          <a:bodyPr wrap="square" rtlCol="0">
            <a:spAutoFit/>
          </a:bodyPr>
          <a:lstStyle/>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system uses a </a:t>
            </a:r>
            <a:r>
              <a:rPr lang="en-US" altLang="en-US" sz="2000" dirty="0" err="1">
                <a:latin typeface="Times New Roman" panose="02020603050405020304" pitchFamily="18" charset="0"/>
                <a:cs typeface="Times New Roman" panose="02020603050405020304" pitchFamily="18" charset="0"/>
              </a:rPr>
              <a:t>Streamlit</a:t>
            </a:r>
            <a:r>
              <a:rPr lang="en-US" altLang="en-US" sz="2000" dirty="0">
                <a:latin typeface="Times New Roman" panose="02020603050405020304" pitchFamily="18" charset="0"/>
                <a:cs typeface="Times New Roman" panose="02020603050405020304" pitchFamily="18" charset="0"/>
              </a:rPr>
              <a:t>-based web interface to allow users to upload student academic data and interact with the application in real time.</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Uploaded data is processed using a Python processing engine, where data cleaning, normalization, feature engineering, and attendance percentage calculation are performed.</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Preprocessed data is passed to the Machine Learning layer, which applies Decision Tree and Naïve Bayes algorithms for student learning progress classification.</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Model Evaluation module measures performance using accuracy, recall, and F1-score to ensure reliable identification of slow learners.</a:t>
            </a:r>
          </a:p>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Classification results and insights are displayed through an interactive </a:t>
            </a:r>
            <a:r>
              <a:rPr lang="en-US" altLang="en-US" sz="2000" dirty="0" err="1">
                <a:latin typeface="Times New Roman" panose="02020603050405020304" pitchFamily="18" charset="0"/>
                <a:cs typeface="Times New Roman" panose="02020603050405020304" pitchFamily="18" charset="0"/>
              </a:rPr>
              <a:t>Streamlit</a:t>
            </a:r>
            <a:r>
              <a:rPr lang="en-US" altLang="en-US" sz="2000" dirty="0">
                <a:latin typeface="Times New Roman" panose="02020603050405020304" pitchFamily="18" charset="0"/>
                <a:cs typeface="Times New Roman" panose="02020603050405020304" pitchFamily="18" charset="0"/>
              </a:rPr>
              <a:t> dashboard, enabling visualization and analysis of student performance.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pPr>
              <a:lnSpc>
                <a:spcPct val="120000"/>
              </a:lnSpc>
            </a:pPr>
            <a:r>
              <a:rPr lang="en-IN" dirty="0">
                <a:latin typeface="Times New Roman" panose="02020603050405020304" pitchFamily="18" charset="0"/>
                <a:cs typeface="Times New Roman" panose="02020603050405020304" pitchFamily="18" charset="0"/>
              </a:rPr>
              <a:t>Implementation</a:t>
            </a:r>
            <a:endParaRPr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3" name="Text Box 2"/>
          <p:cNvSpPr txBox="1"/>
          <p:nvPr/>
        </p:nvSpPr>
        <p:spPr>
          <a:xfrm>
            <a:off x="561975" y="1909445"/>
            <a:ext cx="11019790" cy="4707890"/>
          </a:xfrm>
          <a:prstGeom prst="rect">
            <a:avLst/>
          </a:prstGeom>
          <a:noFill/>
        </p:spPr>
        <p:txBody>
          <a:bodyPr wrap="square" rtlCol="0">
            <a:spAutoFit/>
          </a:bodyPr>
          <a:lstStyle/>
          <a:p>
            <a:r>
              <a:rPr lang="en-US" altLang="en-US" sz="2000" b="1" dirty="0">
                <a:latin typeface="Times New Roman" panose="02020603050405020304" pitchFamily="18" charset="0"/>
                <a:cs typeface="Times New Roman" panose="02020603050405020304" pitchFamily="18" charset="0"/>
              </a:rPr>
              <a:t>User Interface (UI</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Designed a clean and intuitive web-based interface using HTML. Separate sections for Student Data Upload, Performance Analysis, Results Dashboard, and Notifications ensure smooth navigation and better user experience.</a:t>
            </a:r>
          </a:p>
          <a:p>
            <a:r>
              <a:rPr lang="en-US" altLang="en-US" sz="2000" b="1" dirty="0">
                <a:latin typeface="Times New Roman" panose="02020603050405020304" pitchFamily="18" charset="0"/>
                <a:cs typeface="Times New Roman" panose="02020603050405020304" pitchFamily="18" charset="0"/>
              </a:rPr>
              <a:t>Academic Data Collection &amp; Management</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Student academic records including attendance percentage, internal marks, and assignment scores are collected in structured CSV/Excel </a:t>
            </a:r>
            <a:r>
              <a:rPr lang="en-US" altLang="en-US" sz="2000" dirty="0" err="1">
                <a:latin typeface="Times New Roman" panose="02020603050405020304" pitchFamily="18" charset="0"/>
                <a:cs typeface="Times New Roman" panose="02020603050405020304" pitchFamily="18" charset="0"/>
              </a:rPr>
              <a:t>format.The</a:t>
            </a:r>
            <a:r>
              <a:rPr lang="en-US" altLang="en-US" sz="2000" dirty="0">
                <a:latin typeface="Times New Roman" panose="02020603050405020304" pitchFamily="18" charset="0"/>
                <a:cs typeface="Times New Roman" panose="02020603050405020304" pitchFamily="18" charset="0"/>
              </a:rPr>
              <a:t> data is preprocessed and validated to remove inconsistencies before analysis.</a:t>
            </a:r>
          </a:p>
          <a:p>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Machine Learning Model</a:t>
            </a:r>
          </a:p>
          <a:p>
            <a:pPr marL="342900" indent="-342900">
              <a:buFont typeface="Arial" panose="020B0604020202020204" pitchFamily="34" charset="0"/>
              <a:buChar char="•"/>
            </a:pPr>
            <a:r>
              <a:rPr lang="en-US" altLang="en-US" sz="2000" dirty="0" err="1">
                <a:latin typeface="Times New Roman" panose="02020603050405020304" pitchFamily="18" charset="0"/>
                <a:cs typeface="Times New Roman" panose="02020603050405020304" pitchFamily="18" charset="0"/>
              </a:rPr>
              <a:t>Implemented</a:t>
            </a:r>
            <a:r>
              <a:rPr lang="en-US" altLang="en-US" sz="2000" dirty="0">
                <a:latin typeface="Times New Roman" panose="02020603050405020304" pitchFamily="18" charset="0"/>
                <a:cs typeface="Times New Roman" panose="02020603050405020304" pitchFamily="18" charset="0"/>
              </a:rPr>
              <a:t> supervised machine learning algorithms such as Decision Tree and Naïve Bayes using the scikit-learn </a:t>
            </a:r>
            <a:r>
              <a:rPr lang="en-US" altLang="en-US" sz="2000" dirty="0" err="1">
                <a:latin typeface="Times New Roman" panose="02020603050405020304" pitchFamily="18" charset="0"/>
                <a:cs typeface="Times New Roman" panose="02020603050405020304" pitchFamily="18" charset="0"/>
              </a:rPr>
              <a:t>library.These</a:t>
            </a:r>
            <a:r>
              <a:rPr lang="en-US" altLang="en-US" sz="2000" dirty="0">
                <a:latin typeface="Times New Roman" panose="02020603050405020304" pitchFamily="18" charset="0"/>
                <a:cs typeface="Times New Roman" panose="02020603050405020304" pitchFamily="18" charset="0"/>
              </a:rPr>
              <a:t> models classify students into Slow, Average and Good learners based on academic performance patterns.</a:t>
            </a:r>
          </a:p>
          <a:p>
            <a:r>
              <a:rPr lang="en-US" altLang="en-US" sz="2000" b="1" dirty="0">
                <a:latin typeface="Times New Roman" panose="02020603050405020304" pitchFamily="18" charset="0"/>
                <a:cs typeface="Times New Roman" panose="02020603050405020304" pitchFamily="18" charset="0"/>
              </a:rPr>
              <a:t>Model Evaluation &amp; Result Interpretation</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trained models are evaluated using accuracy metrics, and the classification results are displayed clearly to help teachers understand student learning levels and plan appropriate academic support.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pPr>
              <a:lnSpc>
                <a:spcPct val="120000"/>
              </a:lnSpc>
            </a:pPr>
            <a:r>
              <a:rPr lang="en-IN" dirty="0">
                <a:latin typeface="Times New Roman" panose="02020603050405020304" pitchFamily="18" charset="0"/>
                <a:cs typeface="Times New Roman" panose="02020603050405020304" pitchFamily="18" charset="0"/>
              </a:rPr>
              <a:t>Results &amp; Discussion</a:t>
            </a:r>
            <a:endParaRPr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3" name="Text Box 2"/>
          <p:cNvSpPr txBox="1"/>
          <p:nvPr/>
        </p:nvSpPr>
        <p:spPr>
          <a:xfrm>
            <a:off x="561975" y="1909445"/>
            <a:ext cx="11019790" cy="4401205"/>
          </a:xfrm>
          <a:prstGeom prst="rect">
            <a:avLst/>
          </a:prstGeom>
          <a:noFill/>
        </p:spPr>
        <p:txBody>
          <a:bodyPr wrap="square" rtlCol="0">
            <a:spAutoFit/>
          </a:bodyPr>
          <a:lstStyle/>
          <a:p>
            <a:r>
              <a:rPr lang="en-US" altLang="en-US" sz="2000" b="1" dirty="0">
                <a:latin typeface="Times New Roman" panose="02020603050405020304" pitchFamily="18" charset="0"/>
                <a:cs typeface="Times New Roman" panose="02020603050405020304" pitchFamily="18" charset="0"/>
              </a:rPr>
              <a:t>Functional Success</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system successfully processed student academic records and accurately classified learning progress into Slow, Average, and Good categories. Machine learning predictions and performance dashboards were generated with minimal processing time.</a:t>
            </a:r>
          </a:p>
          <a:p>
            <a:r>
              <a:rPr lang="en-US" altLang="en-US" sz="2000" b="1" dirty="0">
                <a:latin typeface="Times New Roman" panose="02020603050405020304" pitchFamily="18" charset="0"/>
                <a:cs typeface="Times New Roman" panose="02020603050405020304" pitchFamily="18" charset="0"/>
              </a:rPr>
              <a:t>User &amp; Faculty Feedback</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Faculty members reported that the system simplified student performance monitoring and reduced manual analysis </a:t>
            </a:r>
            <a:r>
              <a:rPr lang="en-US" altLang="en-US" sz="2000" dirty="0" err="1">
                <a:latin typeface="Times New Roman" panose="02020603050405020304" pitchFamily="18" charset="0"/>
                <a:cs typeface="Times New Roman" panose="02020603050405020304" pitchFamily="18" charset="0"/>
              </a:rPr>
              <a:t>efforts.More</a:t>
            </a:r>
            <a:r>
              <a:rPr lang="en-US" altLang="en-US" sz="2000" dirty="0">
                <a:latin typeface="Times New Roman" panose="02020603050405020304" pitchFamily="18" charset="0"/>
                <a:cs typeface="Times New Roman" panose="02020603050405020304" pitchFamily="18" charset="0"/>
              </a:rPr>
              <a:t> than 80% of evaluators found the classification results easy to understand and useful for academic decision-making.</a:t>
            </a:r>
          </a:p>
          <a:p>
            <a:r>
              <a:rPr lang="en-US" altLang="en-US" sz="2000" b="1" dirty="0">
                <a:latin typeface="Times New Roman" panose="02020603050405020304" pitchFamily="18" charset="0"/>
                <a:cs typeface="Times New Roman" panose="02020603050405020304" pitchFamily="18" charset="0"/>
              </a:rPr>
              <a:t>Challenges Observed</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system’s classification performance is influenced by the quality, consistency, and volume of academic </a:t>
            </a:r>
            <a:r>
              <a:rPr lang="en-US" altLang="en-US" sz="2000" dirty="0" err="1">
                <a:latin typeface="Times New Roman" panose="02020603050405020304" pitchFamily="18" charset="0"/>
                <a:cs typeface="Times New Roman" panose="02020603050405020304" pitchFamily="18" charset="0"/>
              </a:rPr>
              <a:t>data.Incomplete</a:t>
            </a:r>
            <a:r>
              <a:rPr lang="en-US" altLang="en-US" sz="2000" dirty="0">
                <a:latin typeface="Times New Roman" panose="02020603050405020304" pitchFamily="18" charset="0"/>
                <a:cs typeface="Times New Roman" panose="02020603050405020304" pitchFamily="18" charset="0"/>
              </a:rPr>
              <a:t> records or limited feature diversity can impact the reliability of learning progress classification, indicating the need for richer and more comprehensive datasets.</a:t>
            </a:r>
          </a:p>
          <a:p>
            <a:r>
              <a:rPr lang="en-US" altLang="en-US" sz="2000" b="1" dirty="0">
                <a:latin typeface="Times New Roman" panose="02020603050405020304" pitchFamily="18" charset="0"/>
                <a:cs typeface="Times New Roman" panose="02020603050405020304" pitchFamily="18" charset="0"/>
              </a:rPr>
              <a:t>Efficient Academic Decision Support</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integrated system reduced dependency on manual spreadsheets and subjective evaluations.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pPr>
              <a:lnSpc>
                <a:spcPct val="120000"/>
              </a:lnSpc>
            </a:pPr>
            <a:r>
              <a:rPr lang="en-IN" dirty="0">
                <a:latin typeface="Times New Roman" panose="02020603050405020304" pitchFamily="18" charset="0"/>
                <a:cs typeface="Times New Roman" panose="02020603050405020304" pitchFamily="18" charset="0"/>
              </a:rPr>
              <a:t>Challenges &amp; Limitations</a:t>
            </a:r>
            <a:endParaRPr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
        <p:nvSpPr>
          <p:cNvPr id="3" name="Text Box 2"/>
          <p:cNvSpPr txBox="1"/>
          <p:nvPr/>
        </p:nvSpPr>
        <p:spPr>
          <a:xfrm>
            <a:off x="357352" y="1874381"/>
            <a:ext cx="11019790" cy="3785652"/>
          </a:xfrm>
          <a:prstGeom prst="rect">
            <a:avLst/>
          </a:prstGeom>
          <a:noFill/>
        </p:spPr>
        <p:txBody>
          <a:bodyPr wrap="square" rtlCol="0">
            <a:spAutoFit/>
          </a:bodyPr>
          <a:lstStyle/>
          <a:p>
            <a:r>
              <a:rPr lang="en-US" sz="2000" b="1" dirty="0"/>
              <a:t>File Upload </a:t>
            </a:r>
            <a:r>
              <a:rPr lang="en-US" sz="2000" b="1" dirty="0" smtClean="0"/>
              <a:t>Limitations</a:t>
            </a:r>
          </a:p>
          <a:p>
            <a:r>
              <a:rPr lang="en-US" sz="2000" dirty="0" smtClean="0"/>
              <a:t>     Large </a:t>
            </a:r>
            <a:r>
              <a:rPr lang="en-US" sz="2000" dirty="0" smtClean="0"/>
              <a:t>files upload slowly and may crash the app</a:t>
            </a:r>
            <a:r>
              <a:rPr lang="en-US" sz="2000" dirty="0" smtClean="0"/>
              <a:t>.</a:t>
            </a:r>
          </a:p>
          <a:p>
            <a:endParaRPr lang="en-US" sz="2000" b="1" dirty="0"/>
          </a:p>
          <a:p>
            <a:r>
              <a:rPr lang="en-US" sz="2000" b="1" dirty="0" smtClean="0"/>
              <a:t>Real-Time </a:t>
            </a:r>
            <a:r>
              <a:rPr lang="en-US" sz="2000" b="1" dirty="0"/>
              <a:t>Chat Synchronization </a:t>
            </a:r>
            <a:r>
              <a:rPr lang="en-US" sz="2000" b="1" dirty="0" smtClean="0"/>
              <a:t>Delays</a:t>
            </a:r>
          </a:p>
          <a:p>
            <a:r>
              <a:rPr lang="en-US" sz="2000" dirty="0" smtClean="0"/>
              <a:t>     Messages </a:t>
            </a:r>
            <a:r>
              <a:rPr lang="en-US" sz="2000" dirty="0" smtClean="0"/>
              <a:t>may take time to update on all devices</a:t>
            </a:r>
            <a:r>
              <a:rPr lang="en-US" sz="2000" dirty="0" smtClean="0"/>
              <a:t>.</a:t>
            </a:r>
          </a:p>
          <a:p>
            <a:endParaRPr lang="en-US" sz="2000" b="1" dirty="0"/>
          </a:p>
          <a:p>
            <a:r>
              <a:rPr lang="en-US" sz="2000" b="1" dirty="0" smtClean="0"/>
              <a:t>Internet Dependency</a:t>
            </a:r>
          </a:p>
          <a:p>
            <a:r>
              <a:rPr lang="en-US" sz="2000" b="1" dirty="0" smtClean="0"/>
              <a:t> </a:t>
            </a:r>
            <a:r>
              <a:rPr lang="en-US" sz="2000" b="1" dirty="0" smtClean="0"/>
              <a:t>      </a:t>
            </a:r>
            <a:r>
              <a:rPr lang="en-US" sz="2000" dirty="0" smtClean="0"/>
              <a:t>The </a:t>
            </a:r>
            <a:r>
              <a:rPr lang="en-US" sz="2000" dirty="0" smtClean="0"/>
              <a:t>app works properly only with good internet</a:t>
            </a:r>
            <a:r>
              <a:rPr lang="en-US" sz="2000" dirty="0" smtClean="0"/>
              <a:t>.</a:t>
            </a:r>
          </a:p>
          <a:p>
            <a:endParaRPr lang="en-US" sz="2000" dirty="0"/>
          </a:p>
          <a:p>
            <a:r>
              <a:rPr lang="en-US" sz="2000" b="1" dirty="0" smtClean="0"/>
              <a:t>Storage </a:t>
            </a:r>
            <a:r>
              <a:rPr lang="en-US" sz="2000" b="1" dirty="0"/>
              <a:t>and Usage Limitations</a:t>
            </a:r>
          </a:p>
          <a:p>
            <a:r>
              <a:rPr lang="en-US" sz="2000" dirty="0" smtClean="0"/>
              <a:t>      Free </a:t>
            </a:r>
            <a:r>
              <a:rPr lang="en-US" sz="2000" dirty="0" smtClean="0"/>
              <a:t>Firebase storage is limited for many users.</a:t>
            </a:r>
            <a:r>
              <a:rPr lang="en-US" sz="2000" dirty="0" smtClean="0"/>
              <a:t>.</a:t>
            </a:r>
            <a:endParaRPr lang="en-US" sz="2000" dirty="0"/>
          </a:p>
          <a:p>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Future Scope</a:t>
            </a:r>
          </a:p>
        </p:txBody>
      </p:sp>
      <p:sp>
        <p:nvSpPr>
          <p:cNvPr id="3" name="Content Placeholder 2"/>
          <p:cNvSpPr>
            <a:spLocks noGrp="1"/>
          </p:cNvSpPr>
          <p:nvPr>
            <p:ph idx="1"/>
          </p:nvPr>
        </p:nvSpPr>
        <p:spPr/>
        <p:txBody>
          <a:bodyPr>
            <a:noAutofit/>
          </a:bodyPr>
          <a:lstStyle/>
          <a:p>
            <a:r>
              <a:rPr lang="en-US" sz="1600" b="1" dirty="0">
                <a:latin typeface="Times New Roman" panose="02020603050405020304" pitchFamily="18" charset="0"/>
                <a:cs typeface="Times New Roman" panose="02020603050405020304" pitchFamily="18" charset="0"/>
              </a:rPr>
              <a:t>Enhancements and Improvements</a:t>
            </a:r>
          </a:p>
          <a:p>
            <a:r>
              <a:rPr lang="en-US" sz="1600" dirty="0">
                <a:latin typeface="Times New Roman" panose="02020603050405020304" pitchFamily="18" charset="0"/>
                <a:cs typeface="Times New Roman" panose="02020603050405020304" pitchFamily="18" charset="0"/>
              </a:rPr>
              <a:t>Introduce UI personalization features such as </a:t>
            </a:r>
            <a:r>
              <a:rPr lang="en-US" sz="1600" b="1" dirty="0">
                <a:latin typeface="Times New Roman" panose="02020603050405020304" pitchFamily="18" charset="0"/>
                <a:cs typeface="Times New Roman" panose="02020603050405020304" pitchFamily="18" charset="0"/>
              </a:rPr>
              <a:t>dark mode</a:t>
            </a:r>
            <a:r>
              <a:rPr lang="en-US" sz="1600" dirty="0">
                <a:latin typeface="Times New Roman" panose="02020603050405020304" pitchFamily="18" charset="0"/>
                <a:cs typeface="Times New Roman" panose="02020603050405020304" pitchFamily="18" charset="0"/>
              </a:rPr>
              <a:t> and customizable </a:t>
            </a:r>
            <a:r>
              <a:rPr lang="en-US" sz="1600" b="1" dirty="0">
                <a:latin typeface="Times New Roman" panose="02020603050405020304" pitchFamily="18" charset="0"/>
                <a:cs typeface="Times New Roman" panose="02020603050405020304" pitchFamily="18" charset="0"/>
              </a:rPr>
              <a:t>color themes</a:t>
            </a:r>
            <a:r>
              <a:rPr lang="en-US" sz="1600" dirty="0">
                <a:latin typeface="Times New Roman" panose="02020603050405020304" pitchFamily="18" charset="0"/>
                <a:cs typeface="Times New Roman" panose="02020603050405020304" pitchFamily="18" charset="0"/>
              </a:rPr>
              <a:t> to improve user comfort and accessibility.</a:t>
            </a:r>
          </a:p>
          <a:p>
            <a:r>
              <a:rPr lang="en-US" sz="1600" dirty="0">
                <a:latin typeface="Times New Roman" panose="02020603050405020304" pitchFamily="18" charset="0"/>
                <a:cs typeface="Times New Roman" panose="02020603050405020304" pitchFamily="18" charset="0"/>
              </a:rPr>
              <a:t>Optimize performance for smoother navigation and faster content loading.</a:t>
            </a:r>
          </a:p>
          <a:p>
            <a:r>
              <a:rPr lang="en-US" sz="1600" b="1" dirty="0">
                <a:latin typeface="Times New Roman" panose="02020603050405020304" pitchFamily="18" charset="0"/>
                <a:cs typeface="Times New Roman" panose="02020603050405020304" pitchFamily="18" charset="0"/>
              </a:rPr>
              <a:t>Offline Mode</a:t>
            </a:r>
          </a:p>
          <a:p>
            <a:r>
              <a:rPr lang="en-US" sz="1600" dirty="0">
                <a:latin typeface="Times New Roman" panose="02020603050405020304" pitchFamily="18" charset="0"/>
                <a:cs typeface="Times New Roman" panose="02020603050405020304" pitchFamily="18" charset="0"/>
              </a:rPr>
              <a:t>Enable users to </a:t>
            </a:r>
            <a:r>
              <a:rPr lang="en-US" sz="1600" b="1" dirty="0">
                <a:latin typeface="Times New Roman" panose="02020603050405020304" pitchFamily="18" charset="0"/>
                <a:cs typeface="Times New Roman" panose="02020603050405020304" pitchFamily="18" charset="0"/>
              </a:rPr>
              <a:t>save and edit notes offline</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Automatically synchronize content once an internet connection becomes available.</a:t>
            </a:r>
          </a:p>
          <a:p>
            <a:r>
              <a:rPr lang="en-US" sz="1600" b="1" dirty="0">
                <a:latin typeface="Times New Roman" panose="02020603050405020304" pitchFamily="18" charset="0"/>
                <a:cs typeface="Times New Roman" panose="02020603050405020304" pitchFamily="18" charset="0"/>
              </a:rPr>
              <a:t>Content Rating &amp; Reporting</a:t>
            </a:r>
          </a:p>
          <a:p>
            <a:r>
              <a:rPr lang="en-US" sz="1600" dirty="0">
                <a:latin typeface="Times New Roman" panose="02020603050405020304" pitchFamily="18" charset="0"/>
                <a:cs typeface="Times New Roman" panose="02020603050405020304" pitchFamily="18" charset="0"/>
              </a:rPr>
              <a:t>Allow users to </a:t>
            </a:r>
            <a:r>
              <a:rPr lang="en-US" sz="1600" b="1" dirty="0">
                <a:latin typeface="Times New Roman" panose="02020603050405020304" pitchFamily="18" charset="0"/>
                <a:cs typeface="Times New Roman" panose="02020603050405020304" pitchFamily="18" charset="0"/>
              </a:rPr>
              <a:t>rate shared notes</a:t>
            </a:r>
            <a:r>
              <a:rPr lang="en-US" sz="1600" dirty="0">
                <a:latin typeface="Times New Roman" panose="02020603050405020304" pitchFamily="18" charset="0"/>
                <a:cs typeface="Times New Roman" panose="02020603050405020304" pitchFamily="18" charset="0"/>
              </a:rPr>
              <a:t> to maintain content quality.</a:t>
            </a:r>
          </a:p>
          <a:p>
            <a:r>
              <a:rPr lang="en-US" sz="1600" dirty="0">
                <a:latin typeface="Times New Roman" panose="02020603050405020304" pitchFamily="18" charset="0"/>
                <a:cs typeface="Times New Roman" panose="02020603050405020304" pitchFamily="18" charset="0"/>
              </a:rPr>
              <a:t>Provide reporting mechanisms for </a:t>
            </a:r>
            <a:r>
              <a:rPr lang="en-US" sz="1600" b="1" dirty="0">
                <a:latin typeface="Times New Roman" panose="02020603050405020304" pitchFamily="18" charset="0"/>
                <a:cs typeface="Times New Roman" panose="02020603050405020304" pitchFamily="18" charset="0"/>
              </a:rPr>
              <a:t>inappropriate or low-quality uploads</a:t>
            </a:r>
            <a:r>
              <a:rPr lang="en-US" sz="1600" dirty="0">
                <a:latin typeface="Times New Roman" panose="02020603050405020304" pitchFamily="18" charset="0"/>
                <a:cs typeface="Times New Roman" panose="02020603050405020304" pitchFamily="18" charset="0"/>
              </a:rPr>
              <a:t>.</a:t>
            </a:r>
          </a:p>
          <a:p>
            <a:r>
              <a:rPr lang="en-US" sz="1600" b="1" dirty="0">
                <a:latin typeface="Times New Roman" panose="02020603050405020304" pitchFamily="18" charset="0"/>
                <a:cs typeface="Times New Roman" panose="02020603050405020304" pitchFamily="18" charset="0"/>
              </a:rPr>
              <a:t>How the Project Can Be Extended Further</a:t>
            </a:r>
          </a:p>
          <a:p>
            <a:r>
              <a:rPr lang="en-US" sz="1600" b="1" dirty="0">
                <a:latin typeface="Times New Roman" panose="02020603050405020304" pitchFamily="18" charset="0"/>
                <a:cs typeface="Times New Roman" panose="02020603050405020304" pitchFamily="18" charset="0"/>
              </a:rPr>
              <a:t>Multi-Language Support</a:t>
            </a:r>
          </a:p>
          <a:p>
            <a:r>
              <a:rPr lang="en-US" sz="1600" dirty="0">
                <a:latin typeface="Times New Roman" panose="02020603050405020304" pitchFamily="18" charset="0"/>
                <a:cs typeface="Times New Roman" panose="02020603050405020304" pitchFamily="18" charset="0"/>
              </a:rPr>
              <a:t>Support regional and international languages to make the application accessible to students from diverse linguistic backgrounds.</a:t>
            </a:r>
          </a:p>
          <a:p>
            <a:r>
              <a:rPr lang="en-US" sz="1600" b="1" dirty="0">
                <a:latin typeface="Times New Roman" panose="02020603050405020304" pitchFamily="18" charset="0"/>
                <a:cs typeface="Times New Roman" panose="02020603050405020304" pitchFamily="18" charset="0"/>
              </a:rPr>
              <a:t>Integration with Learning Management Systems (LMS)</a:t>
            </a:r>
          </a:p>
          <a:p>
            <a:r>
              <a:rPr lang="en-US" sz="1600" dirty="0">
                <a:latin typeface="Times New Roman" panose="02020603050405020304" pitchFamily="18" charset="0"/>
                <a:cs typeface="Times New Roman" panose="02020603050405020304" pitchFamily="18" charset="0"/>
              </a:rPr>
              <a:t>Integrate with platforms such as </a:t>
            </a:r>
            <a:r>
              <a:rPr lang="en-US" sz="1600" b="1" dirty="0">
                <a:latin typeface="Times New Roman" panose="02020603050405020304" pitchFamily="18" charset="0"/>
                <a:cs typeface="Times New Roman" panose="02020603050405020304" pitchFamily="18" charset="0"/>
              </a:rPr>
              <a:t>Moodle</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Google Classroom</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Enable assignment tracking, deadline reminders, and academic calendar synchronization.</a:t>
            </a: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20000"/>
              </a:lnSpc>
            </a:pPr>
            <a:r>
              <a:rPr dirty="0"/>
              <a:t>References</a:t>
            </a:r>
          </a:p>
        </p:txBody>
      </p:sp>
      <p:sp>
        <p:nvSpPr>
          <p:cNvPr id="3" name="Content Placeholder 2"/>
          <p:cNvSpPr>
            <a:spLocks noGrp="1"/>
          </p:cNvSpPr>
          <p:nvPr>
            <p:ph idx="1"/>
          </p:nvPr>
        </p:nvSpPr>
        <p:spPr>
          <a:xfrm>
            <a:off x="246743" y="1733551"/>
            <a:ext cx="11335657" cy="4525963"/>
          </a:xfrm>
        </p:spPr>
        <p:txBody>
          <a:bodyPr>
            <a:noAutofit/>
          </a:bodyPr>
          <a:lstStyle/>
          <a:p>
            <a:pPr>
              <a:buFont typeface="+mj-lt"/>
              <a:buAutoNum type="arabicPeriod"/>
            </a:pPr>
            <a:r>
              <a:rPr lang="en-US" altLang="en-US" sz="1700" b="1" dirty="0">
                <a:latin typeface="Times New Roman" panose="02020603050405020304" pitchFamily="18" charset="0"/>
                <a:cs typeface="Times New Roman" panose="02020603050405020304" pitchFamily="18" charset="0"/>
              </a:rPr>
              <a:t>Tao-Hongli, “Educational data mining for student performance prediction: feature selection and model evaluation,” Journal of Electrical Systems, vol. 20, no. 3, pp. 1063–1074, Apr. 2024. </a:t>
            </a:r>
          </a:p>
          <a:p>
            <a:pPr>
              <a:buFont typeface="+mj-lt"/>
              <a:buAutoNum type="arabicPeriod"/>
            </a:pPr>
            <a:endParaRPr lang="en-US" altLang="en-US" sz="1700" b="1" dirty="0">
              <a:latin typeface="Times New Roman" panose="02020603050405020304" pitchFamily="18" charset="0"/>
              <a:cs typeface="Times New Roman" panose="02020603050405020304" pitchFamily="18" charset="0"/>
            </a:endParaRPr>
          </a:p>
          <a:p>
            <a:pPr>
              <a:buFont typeface="+mj-lt"/>
              <a:buAutoNum type="arabicPeriod"/>
            </a:pPr>
            <a:r>
              <a:rPr lang="en-US" altLang="en-US" sz="1700" b="1" dirty="0">
                <a:latin typeface="Times New Roman" panose="02020603050405020304" pitchFamily="18" charset="0"/>
                <a:cs typeface="Times New Roman" panose="02020603050405020304" pitchFamily="18" charset="0"/>
              </a:rPr>
              <a:t>“Student Performance Prediction Using Machine Learning Algorithms,” ShodhKosh: Journal of Visual and Performing Arts, vol. 5, no. 6, pp. 1112–1122, June 2024. </a:t>
            </a:r>
          </a:p>
          <a:p>
            <a:pPr>
              <a:buFont typeface="+mj-lt"/>
              <a:buAutoNum type="arabicPeriod"/>
            </a:pPr>
            <a:endParaRPr lang="en-US" altLang="en-US" sz="1700" b="1" dirty="0">
              <a:latin typeface="Times New Roman" panose="02020603050405020304" pitchFamily="18" charset="0"/>
              <a:cs typeface="Times New Roman" panose="02020603050405020304" pitchFamily="18" charset="0"/>
            </a:endParaRPr>
          </a:p>
          <a:p>
            <a:pPr>
              <a:buFont typeface="+mj-lt"/>
              <a:buAutoNum type="arabicPeriod"/>
            </a:pPr>
            <a:r>
              <a:rPr lang="en-US" altLang="en-US" sz="1700" b="1" dirty="0">
                <a:latin typeface="Times New Roman" panose="02020603050405020304" pitchFamily="18" charset="0"/>
                <a:cs typeface="Times New Roman" panose="02020603050405020304" pitchFamily="18" charset="0"/>
              </a:rPr>
              <a:t>“Comparison of KNN, SVM, Decision Tree, and Naïve Bayes classifiers for predictive student performance,” Wiley Interdisciplinary Reviews: </a:t>
            </a:r>
          </a:p>
          <a:p>
            <a:pPr>
              <a:buFont typeface="+mj-lt"/>
              <a:buAutoNum type="arabicPeriod"/>
            </a:pPr>
            <a:endParaRPr lang="en-US" altLang="en-US" sz="1700" b="1" dirty="0">
              <a:latin typeface="Times New Roman" panose="02020603050405020304" pitchFamily="18" charset="0"/>
              <a:cs typeface="Times New Roman" panose="02020603050405020304" pitchFamily="18" charset="0"/>
            </a:endParaRPr>
          </a:p>
          <a:p>
            <a:pPr>
              <a:buFont typeface="+mj-lt"/>
              <a:buAutoNum type="arabicPeriod"/>
            </a:pPr>
            <a:r>
              <a:rPr lang="en-US" altLang="en-US" sz="1700" b="1" dirty="0">
                <a:latin typeface="Times New Roman" panose="02020603050405020304" pitchFamily="18" charset="0"/>
                <a:cs typeface="Times New Roman" panose="02020603050405020304" pitchFamily="18" charset="0"/>
              </a:rPr>
              <a:t>Christian I. N. Putri et al., “Employing Naive Bayes algorithm in the analysis of students academic performances,” in Proceedings of the International Conference on Electrical, Computer, Communications and Mechatronics Engineering (ICECCME), 2024. </a:t>
            </a:r>
          </a:p>
          <a:p>
            <a:pPr>
              <a:buFont typeface="+mj-lt"/>
              <a:buAutoNum type="arabicPeriod"/>
            </a:pPr>
            <a:endParaRPr lang="en-US" altLang="en-US" sz="1700" b="1" dirty="0">
              <a:latin typeface="Times New Roman" panose="02020603050405020304" pitchFamily="18" charset="0"/>
              <a:cs typeface="Times New Roman" panose="02020603050405020304" pitchFamily="18" charset="0"/>
            </a:endParaRPr>
          </a:p>
          <a:p>
            <a:pPr>
              <a:buFont typeface="+mj-lt"/>
              <a:buAutoNum type="arabicPeriod"/>
            </a:pPr>
            <a:r>
              <a:rPr lang="en-US" altLang="en-US" sz="1700" b="1" dirty="0">
                <a:latin typeface="Times New Roman" panose="02020603050405020304" pitchFamily="18" charset="0"/>
                <a:cs typeface="Times New Roman" panose="02020603050405020304" pitchFamily="18" charset="0"/>
              </a:rPr>
              <a:t>Munaf Salim Najim Al-Din and Hussein Ali Al Abdulqader, “Students’ Academic Performance Prediction Using Educational Data Mining and Machine Learning: A Systematic Review,” ResearchGate, Mar. 2025. </a:t>
            </a:r>
          </a:p>
        </p:txBody>
      </p:sp>
      <p:pic>
        <p:nvPicPr>
          <p:cNvPr id="4" name="Picture 3"/>
          <p:cNvPicPr/>
          <p:nvPr/>
        </p:nvPicPr>
        <p:blipFill>
          <a:blip r:embed="rId2" cstate="print">
            <a:extLst>
              <a:ext uri="{28A0092B-C50C-407E-A947-70E740481C1C}">
                <a14:useLocalDpi xmlns:a14="http://schemas.microsoft.com/office/drawing/2010/main" xmlns=""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xmlns="" val="0"/>
              </a:ext>
            </a:extLst>
          </a:blip>
          <a:srcRect/>
          <a:stretch>
            <a:fillRect/>
          </a:stretch>
        </p:blipFill>
        <p:spPr bwMode="auto">
          <a:xfrm>
            <a:off x="10514231" y="191626"/>
            <a:ext cx="1520114" cy="13428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23949"/>
            <a:ext cx="10972800" cy="1143000"/>
          </a:xfrm>
        </p:spPr>
        <p:txBody>
          <a:bodyPr/>
          <a:lstStyle/>
          <a:p>
            <a:r>
              <a:rPr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1603</Words>
  <Application>WPS Presentation</Application>
  <PresentationFormat>Custom</PresentationFormat>
  <Paragraphs>204</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Student Learning Progress Classification Using Academic Records</vt:lpstr>
      <vt:lpstr>Introduction</vt:lpstr>
      <vt:lpstr>Slide 3</vt:lpstr>
      <vt:lpstr>Literature Review</vt:lpstr>
      <vt:lpstr>List of Modules</vt:lpstr>
      <vt:lpstr>Module 1- Description</vt:lpstr>
      <vt:lpstr>Module 2- Description</vt:lpstr>
      <vt:lpstr>Module 3- Description</vt:lpstr>
      <vt:lpstr>Architecture Diagram</vt:lpstr>
      <vt:lpstr>Architecture Description</vt:lpstr>
      <vt:lpstr>Implementation</vt:lpstr>
      <vt:lpstr>Results &amp; Discussion</vt:lpstr>
      <vt:lpstr>Challenges &amp; Limitations</vt:lpstr>
      <vt:lpstr>Future Scope</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creator>sankar</dc:creator>
  <dc:description>generated using python-pptx</dc:description>
  <cp:lastModifiedBy>THANGA</cp:lastModifiedBy>
  <cp:revision>50</cp:revision>
  <dcterms:created xsi:type="dcterms:W3CDTF">2013-01-27T09:14:00Z</dcterms:created>
  <dcterms:modified xsi:type="dcterms:W3CDTF">2026-01-30T21:14:19Z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2104303EB3484E419D982BC57960BBEB_12</vt:lpwstr>
  </property>
  <property fmtid="{D5CDD505-2E9C-101B-9397-08002B2CF9AE}" pid="3" name="KSOProductBuildVer">
    <vt:lpwstr>1033-12.2.0.23196</vt:lpwstr>
  </property>
</Properties>
</file>